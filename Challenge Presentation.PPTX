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7" r:id="rId4"/>
  </p:sldMasterIdLst>
  <p:notesMasterIdLst>
    <p:notesMasterId r:id="rId30"/>
  </p:notesMasterIdLst>
  <p:handoutMasterIdLst>
    <p:handoutMasterId r:id="rId31"/>
  </p:handoutMasterIdLst>
  <p:sldIdLst>
    <p:sldId id="257" r:id="rId5"/>
    <p:sldId id="287" r:id="rId6"/>
    <p:sldId id="260" r:id="rId7"/>
    <p:sldId id="262" r:id="rId8"/>
    <p:sldId id="261" r:id="rId9"/>
    <p:sldId id="335" r:id="rId10"/>
    <p:sldId id="336" r:id="rId11"/>
    <p:sldId id="337" r:id="rId12"/>
    <p:sldId id="271" r:id="rId13"/>
    <p:sldId id="338" r:id="rId14"/>
    <p:sldId id="339" r:id="rId15"/>
    <p:sldId id="340" r:id="rId16"/>
    <p:sldId id="343" r:id="rId17"/>
    <p:sldId id="344" r:id="rId18"/>
    <p:sldId id="345" r:id="rId19"/>
    <p:sldId id="346" r:id="rId20"/>
    <p:sldId id="342" r:id="rId21"/>
    <p:sldId id="347" r:id="rId22"/>
    <p:sldId id="273" r:id="rId23"/>
    <p:sldId id="349" r:id="rId24"/>
    <p:sldId id="348" r:id="rId25"/>
    <p:sldId id="350" r:id="rId26"/>
    <p:sldId id="275" r:id="rId27"/>
    <p:sldId id="288" r:id="rId28"/>
    <p:sldId id="269" r:id="rId29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tran" id="{4EC29510-1A12-4CF5-8C5B-CA46C024800B}">
          <p14:sldIdLst>
            <p14:sldId id="257"/>
            <p14:sldId id="287"/>
            <p14:sldId id="260"/>
            <p14:sldId id="262"/>
            <p14:sldId id="261"/>
            <p14:sldId id="335"/>
            <p14:sldId id="336"/>
            <p14:sldId id="337"/>
            <p14:sldId id="271"/>
            <p14:sldId id="338"/>
            <p14:sldId id="339"/>
            <p14:sldId id="340"/>
            <p14:sldId id="343"/>
            <p14:sldId id="344"/>
            <p14:sldId id="345"/>
            <p14:sldId id="346"/>
            <p14:sldId id="342"/>
            <p14:sldId id="347"/>
            <p14:sldId id="273"/>
            <p14:sldId id="349"/>
            <p14:sldId id="348"/>
            <p14:sldId id="350"/>
            <p14:sldId id="275"/>
            <p14:sldId id="28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259">
          <p15:clr>
            <a:srgbClr val="A4A3A4"/>
          </p15:clr>
        </p15:guide>
        <p15:guide id="3" orient="horz" pos="1166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2777">
          <p15:clr>
            <a:srgbClr val="A4A3A4"/>
          </p15:clr>
        </p15:guide>
        <p15:guide id="6" orient="horz" pos="3026">
          <p15:clr>
            <a:srgbClr val="A4A3A4"/>
          </p15:clr>
        </p15:guide>
        <p15:guide id="7" orient="horz" pos="1869">
          <p15:clr>
            <a:srgbClr val="A4A3A4"/>
          </p15:clr>
        </p15:guide>
        <p15:guide id="8" orient="horz" pos="191">
          <p15:clr>
            <a:srgbClr val="A4A3A4"/>
          </p15:clr>
        </p15:guide>
        <p15:guide id="9" orient="horz" pos="531">
          <p15:clr>
            <a:srgbClr val="A4A3A4"/>
          </p15:clr>
        </p15:guide>
        <p15:guide id="10" orient="horz" pos="2198">
          <p15:clr>
            <a:srgbClr val="A4A3A4"/>
          </p15:clr>
        </p15:guide>
        <p15:guide id="11" orient="horz" pos="3009">
          <p15:clr>
            <a:srgbClr val="A4A3A4"/>
          </p15:clr>
        </p15:guide>
        <p15:guide id="12" pos="2880">
          <p15:clr>
            <a:srgbClr val="A4A3A4"/>
          </p15:clr>
        </p15:guide>
        <p15:guide id="13" pos="567">
          <p15:clr>
            <a:srgbClr val="A4A3A4"/>
          </p15:clr>
        </p15:guide>
        <p15:guide id="14" pos="5193">
          <p15:clr>
            <a:srgbClr val="A4A3A4"/>
          </p15:clr>
        </p15:guide>
        <p15:guide id="15" pos="5534">
          <p15:clr>
            <a:srgbClr val="A4A3A4"/>
          </p15:clr>
        </p15:guide>
        <p15:guide id="16" pos="226">
          <p15:clr>
            <a:srgbClr val="A4A3A4"/>
          </p15:clr>
        </p15:guide>
        <p15:guide id="17" pos="72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NIFACIO COSTA Pedro Proenca" initials="BCPP" lastIdx="1" clrIdx="0">
    <p:extLst>
      <p:ext uri="{19B8F6BF-5375-455C-9EA6-DF929625EA0E}">
        <p15:presenceInfo xmlns:p15="http://schemas.microsoft.com/office/powerpoint/2012/main" userId="S-1-5-21-3699563672-186465670-2874244790-4919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D0FF"/>
    <a:srgbClr val="3B9BC1"/>
    <a:srgbClr val="1BA5DC"/>
    <a:srgbClr val="FFFFFF"/>
    <a:srgbClr val="002060"/>
    <a:srgbClr val="5F509B"/>
    <a:srgbClr val="473C74"/>
    <a:srgbClr val="1D7449"/>
    <a:srgbClr val="9933FF"/>
    <a:srgbClr val="C54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 autoAdjust="0"/>
    <p:restoredTop sz="93979" autoAdjust="0"/>
  </p:normalViewPr>
  <p:slideViewPr>
    <p:cSldViewPr showGuides="1">
      <p:cViewPr varScale="1">
        <p:scale>
          <a:sx n="91" d="100"/>
          <a:sy n="91" d="100"/>
        </p:scale>
        <p:origin x="556" y="56"/>
      </p:cViewPr>
      <p:guideLst>
        <p:guide orient="horz" pos="1620"/>
        <p:guide orient="horz" pos="259"/>
        <p:guide orient="horz" pos="1166"/>
        <p:guide orient="horz" pos="821"/>
        <p:guide orient="horz" pos="2777"/>
        <p:guide orient="horz" pos="3026"/>
        <p:guide orient="horz" pos="1869"/>
        <p:guide orient="horz" pos="191"/>
        <p:guide orient="horz" pos="531"/>
        <p:guide orient="horz" pos="2198"/>
        <p:guide orient="horz" pos="3009"/>
        <p:guide pos="2880"/>
        <p:guide pos="567"/>
        <p:guide pos="5193"/>
        <p:guide pos="5534"/>
        <p:guide pos="226"/>
        <p:guide pos="72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79" d="100"/>
          <a:sy n="79" d="100"/>
        </p:scale>
        <p:origin x="-315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72A03-8192-4C8E-851E-DA871DEC8922}" type="datetimeFigureOut">
              <a:rPr lang="fr-FR" smtClean="0"/>
              <a:t>06/12/2019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02B30-12CB-41F2-81B0-A9C2A6B11C9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853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06/12/2019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0103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6192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8597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2028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2410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6719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65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6" y="3127188"/>
            <a:ext cx="8426449" cy="576000"/>
          </a:xfrm>
        </p:spPr>
        <p:txBody>
          <a:bodyPr/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00.00.2017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42000" y="4536591"/>
            <a:ext cx="1260000" cy="283729"/>
          </a:xfrm>
          <a:prstGeom prst="rect">
            <a:avLst/>
          </a:prstGeom>
        </p:spPr>
      </p:pic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403199"/>
            <a:ext cx="8427600" cy="2538000"/>
          </a:xfrm>
        </p:spPr>
        <p:txBody>
          <a:bodyPr anchor="b" anchorCtr="0"/>
          <a:lstStyle>
            <a:lvl1pPr marL="0" indent="0">
              <a:lnSpc>
                <a:spcPct val="95000"/>
              </a:lnSpc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</a:defRPr>
            </a:lvl1pPr>
            <a:lvl2pPr marL="0" indent="0">
              <a:lnSpc>
                <a:spcPct val="95000"/>
              </a:lnSpc>
              <a:buNone/>
              <a:defRPr sz="25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 smtClean="0"/>
              <a:t>Title</a:t>
            </a:r>
          </a:p>
          <a:p>
            <a:pPr lvl="1"/>
            <a:r>
              <a:rPr lang="en-US" noProof="0" dirty="0" smtClean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&amp;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9144000" cy="2664000"/>
          </a:xfrm>
          <a:solidFill>
            <a:srgbClr val="FFCD1E"/>
          </a:solidFill>
          <a:ln>
            <a:solidFill>
              <a:schemeClr val="bg1">
                <a:alpha val="0"/>
              </a:schemeClr>
            </a:solidFill>
          </a:ln>
        </p:spPr>
        <p:txBody>
          <a:bodyPr/>
          <a:lstStyle>
            <a:lvl1pPr>
              <a:defRPr sz="100" baseline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 dirty="0" smtClean="0"/>
              <a:t> </a:t>
            </a:r>
            <a:endParaRPr lang="en-US" noProof="0" dirty="0"/>
          </a:p>
        </p:txBody>
      </p:sp>
      <p:sp>
        <p:nvSpPr>
          <p:cNvPr id="19" name="Espace réservé pour une image 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115616" y="955000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20" name="Espace réservé pour une image  4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7121505" y="955000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21" name="Espace réservé pour une image 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316794" y="955000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22" name="Espace réservé pour une image  4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517972" y="955000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23" name="Espace réservé pour une image 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719150" y="955000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24" name="Espace réservé pour une image  4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5920328" y="955000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4020478"/>
            <a:ext cx="8426449" cy="459484"/>
          </a:xfrm>
        </p:spPr>
        <p:txBody>
          <a:bodyPr/>
          <a:lstStyle>
            <a:lvl1pPr marL="0" indent="0" algn="ctr">
              <a:buNone/>
              <a:defRPr sz="1100" b="1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00.00.2017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dirty="0" smtClean="0"/>
              <a:t>Date</a:t>
            </a:r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dirty="0" smtClean="0"/>
              <a:t>Presentation title</a:t>
            </a:r>
            <a:endParaRPr lang="en-US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425" name="Image 4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42000" y="4536591"/>
            <a:ext cx="1260000" cy="283728"/>
          </a:xfrm>
          <a:prstGeom prst="rect">
            <a:avLst/>
          </a:prstGeom>
        </p:spPr>
      </p:pic>
      <p:sp>
        <p:nvSpPr>
          <p:cNvPr id="8" name="Espace réservé du texte 7"/>
          <p:cNvSpPr>
            <a:spLocks noGrp="1"/>
          </p:cNvSpPr>
          <p:nvPr>
            <p:ph type="body" sz="quarter" idx="21" hasCustomPrompt="1"/>
          </p:nvPr>
        </p:nvSpPr>
        <p:spPr>
          <a:xfrm>
            <a:off x="360000" y="2678400"/>
            <a:ext cx="8427600" cy="1184400"/>
          </a:xfrm>
        </p:spPr>
        <p:txBody>
          <a:bodyPr anchor="b" anchorCtr="0"/>
          <a:lstStyle>
            <a:lvl1pPr marL="0" indent="0">
              <a:lnSpc>
                <a:spcPct val="95000"/>
              </a:lnSpc>
              <a:buFont typeface="Arial" panose="020B0604020202020204" pitchFamily="34" charset="0"/>
              <a:buNone/>
              <a:defRPr sz="2170"/>
            </a:lvl1pPr>
            <a:lvl2pPr marL="0" indent="0">
              <a:lnSpc>
                <a:spcPct val="95000"/>
              </a:lnSpc>
              <a:buNone/>
              <a:defRPr sz="1600"/>
            </a:lvl2pPr>
          </a:lstStyle>
          <a:p>
            <a:pPr lvl="0"/>
            <a:r>
              <a:rPr lang="en-US" noProof="0" dirty="0" smtClean="0"/>
              <a:t>Title</a:t>
            </a:r>
          </a:p>
          <a:p>
            <a:pPr lvl="1"/>
            <a:r>
              <a:rPr lang="en-US" noProof="0" dirty="0" smtClean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411356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&amp;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4020478"/>
            <a:ext cx="8426449" cy="459484"/>
          </a:xfrm>
        </p:spPr>
        <p:txBody>
          <a:bodyPr/>
          <a:lstStyle>
            <a:lvl1pPr marL="0" indent="0" algn="ctr">
              <a:buNone/>
              <a:defRPr sz="1100" b="1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00.00.2017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Espace réservé pour une image  1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9144000" cy="2664000"/>
          </a:xfrm>
          <a:solidFill>
            <a:srgbClr val="EAEAEA"/>
          </a:solidFill>
        </p:spPr>
        <p:txBody>
          <a:bodyPr tIns="540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42000" y="4536591"/>
            <a:ext cx="1260000" cy="283728"/>
          </a:xfrm>
          <a:prstGeom prst="rect">
            <a:avLst/>
          </a:prstGeom>
        </p:spPr>
      </p:pic>
      <p:sp>
        <p:nvSpPr>
          <p:cNvPr id="10" name="Espace réservé du texte 7"/>
          <p:cNvSpPr>
            <a:spLocks noGrp="1"/>
          </p:cNvSpPr>
          <p:nvPr>
            <p:ph type="body" sz="quarter" idx="21" hasCustomPrompt="1"/>
          </p:nvPr>
        </p:nvSpPr>
        <p:spPr>
          <a:xfrm>
            <a:off x="360000" y="2678400"/>
            <a:ext cx="8427600" cy="1184400"/>
          </a:xfrm>
        </p:spPr>
        <p:txBody>
          <a:bodyPr anchor="b" anchorCtr="0"/>
          <a:lstStyle>
            <a:lvl1pPr marL="0" indent="0">
              <a:lnSpc>
                <a:spcPct val="95000"/>
              </a:lnSpc>
              <a:buFont typeface="Arial" panose="020B0604020202020204" pitchFamily="34" charset="0"/>
              <a:buNone/>
              <a:defRPr sz="2170"/>
            </a:lvl1pPr>
            <a:lvl2pPr marL="0" indent="0">
              <a:lnSpc>
                <a:spcPct val="95000"/>
              </a:lnSpc>
              <a:buNone/>
              <a:defRPr sz="1600"/>
            </a:lvl2pPr>
          </a:lstStyle>
          <a:p>
            <a:pPr lvl="0"/>
            <a:r>
              <a:rPr lang="en-US" noProof="0" dirty="0" smtClean="0"/>
              <a:t>Title</a:t>
            </a:r>
          </a:p>
          <a:p>
            <a:pPr lvl="1"/>
            <a:r>
              <a:rPr lang="en-US" noProof="0" dirty="0" smtClean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4563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 algn="l">
              <a:defRPr sz="3000" b="0">
                <a:solidFill>
                  <a:schemeClr val="accent4"/>
                </a:solidFill>
              </a:defRPr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83568" y="1347614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166776" y="1455571"/>
            <a:ext cx="7617691" cy="324092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83568" y="1858871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166776" y="1966828"/>
            <a:ext cx="7617691" cy="324092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83568" y="2370128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5" name="Espace réservé du texte 7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166776" y="2478085"/>
            <a:ext cx="7617691" cy="324092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83568" y="2881385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166776" y="2989342"/>
            <a:ext cx="7617691" cy="324092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3568" y="3392642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9" name="Espace réservé du texte 7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66776" y="3500599"/>
            <a:ext cx="7617691" cy="324092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83568" y="3903898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1166776" y="4011855"/>
            <a:ext cx="7617691" cy="324092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16797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 algn="l">
              <a:defRPr sz="3000" b="0">
                <a:solidFill>
                  <a:schemeClr val="accent4"/>
                </a:solidFill>
              </a:defRPr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83616" y="1707710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166825" y="1815666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83616" y="2366524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166825" y="2474480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83616" y="3025339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5" name="Espace réservé du texte 7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166825" y="3133295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398080" y="1707710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881289" y="1815666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398080" y="2366524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19" name="Espace réservé du texte 7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881289" y="2474480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398080" y="3025339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3881289" y="3133295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135551" y="1707710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23" name="Espace réservé du texte 7"/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618760" y="1815666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24" name="Espace réservé du texte 4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135551" y="2366524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618760" y="2474480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26" name="Espace réservé du texte 4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135551" y="3025339"/>
            <a:ext cx="432000" cy="432000"/>
          </a:xfrm>
        </p:spPr>
        <p:txBody>
          <a:bodyPr/>
          <a:lstStyle>
            <a:lvl1pPr algn="r">
              <a:defRPr sz="2000" b="1">
                <a:solidFill>
                  <a:schemeClr val="tx2"/>
                </a:solidFill>
              </a:defRPr>
            </a:lvl1pPr>
            <a:lvl2pPr algn="l">
              <a:defRPr/>
            </a:lvl2pPr>
          </a:lstStyle>
          <a:p>
            <a:pPr lvl="0"/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27" name="Espace réservé du texte 7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618760" y="3133295"/>
            <a:ext cx="2160000" cy="504825"/>
          </a:xfrm>
        </p:spPr>
        <p:txBody>
          <a:bodyPr/>
          <a:lstStyle>
            <a:lvl1pPr algn="l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63583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218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83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291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83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39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71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16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03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63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64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541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rgbClr val="5F82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92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38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rgbClr val="DC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654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750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rgbClr val="FFC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84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7670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63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1787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rgbClr val="E63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33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527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50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214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150937" y="390537"/>
            <a:ext cx="7092951" cy="1836551"/>
          </a:xfrm>
        </p:spPr>
        <p:txBody>
          <a:bodyPr anchor="b" anchorCtr="0"/>
          <a:lstStyle>
            <a:lvl1pPr algn="l">
              <a:defRPr sz="8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noProof="0" dirty="0" smtClean="0"/>
              <a:t>00.</a:t>
            </a:r>
            <a:endParaRPr lang="en-US" noProof="0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50938" y="2461923"/>
            <a:ext cx="7092950" cy="1946565"/>
          </a:xfrm>
        </p:spPr>
        <p:txBody>
          <a:bodyPr/>
          <a:lstStyle>
            <a:lvl1pPr algn="l"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Chapter title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4" y="4617830"/>
            <a:ext cx="827998" cy="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8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  <a:p>
            <a:pPr lvl="2"/>
            <a:r>
              <a:rPr lang="en-US" noProof="0" dirty="0" smtClean="0"/>
              <a:t>Text level 3</a:t>
            </a:r>
          </a:p>
          <a:p>
            <a:pPr lvl="3"/>
            <a:r>
              <a:rPr lang="en-US" noProof="0" dirty="0" smtClean="0"/>
              <a:t>Text level 4</a:t>
            </a:r>
          </a:p>
          <a:p>
            <a:pPr lvl="4"/>
            <a:r>
              <a:rPr lang="en-US" noProof="0" dirty="0" smtClean="0"/>
              <a:t>Text level 5</a:t>
            </a:r>
            <a:endParaRPr lang="en-US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346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8775" y="1851025"/>
            <a:ext cx="2700000" cy="255746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  <a:p>
            <a:pPr lvl="2"/>
            <a:r>
              <a:rPr lang="en-US" noProof="0" dirty="0" smtClean="0"/>
              <a:t>Text level 3</a:t>
            </a:r>
          </a:p>
          <a:p>
            <a:pPr lvl="3"/>
            <a:r>
              <a:rPr lang="en-US" noProof="0" dirty="0" smtClean="0"/>
              <a:t>Text level 4</a:t>
            </a:r>
          </a:p>
          <a:p>
            <a:pPr lvl="4"/>
            <a:r>
              <a:rPr lang="en-US" noProof="0" dirty="0" smtClean="0"/>
              <a:t>Text level 5</a:t>
            </a:r>
            <a:endParaRPr lang="en-US" noProof="0" dirty="0"/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21472" y="1851025"/>
            <a:ext cx="2700000" cy="255746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  <a:p>
            <a:pPr lvl="2"/>
            <a:r>
              <a:rPr lang="en-US" noProof="0" dirty="0" smtClean="0"/>
              <a:t>Text level 3</a:t>
            </a:r>
          </a:p>
          <a:p>
            <a:pPr lvl="3"/>
            <a:r>
              <a:rPr lang="en-US" noProof="0" dirty="0" smtClean="0"/>
              <a:t>Text level 4</a:t>
            </a:r>
          </a:p>
          <a:p>
            <a:pPr lvl="4"/>
            <a:r>
              <a:rPr lang="en-US" noProof="0" dirty="0" smtClean="0"/>
              <a:t>Text level 5</a:t>
            </a:r>
            <a:endParaRPr lang="en-US" noProof="0" dirty="0"/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084168" y="1851025"/>
            <a:ext cx="2701057" cy="255746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  <a:p>
            <a:pPr lvl="2"/>
            <a:r>
              <a:rPr lang="en-US" noProof="0" dirty="0" smtClean="0"/>
              <a:t>Text level 3</a:t>
            </a:r>
          </a:p>
          <a:p>
            <a:pPr lvl="3"/>
            <a:r>
              <a:rPr lang="en-US" noProof="0" dirty="0" smtClean="0"/>
              <a:t>Text level 4</a:t>
            </a:r>
          </a:p>
          <a:p>
            <a:pPr lvl="4"/>
            <a:r>
              <a:rPr lang="en-US" noProof="0" dirty="0" smtClean="0"/>
              <a:t>Text level 5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3419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8775" y="1563688"/>
            <a:ext cx="1800225" cy="2844800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  <a:p>
            <a:pPr lvl="2"/>
            <a:r>
              <a:rPr lang="en-US" noProof="0" dirty="0" smtClean="0"/>
              <a:t>Text level 3</a:t>
            </a:r>
          </a:p>
          <a:p>
            <a:pPr lvl="3"/>
            <a:r>
              <a:rPr lang="en-US" noProof="0" dirty="0" smtClean="0"/>
              <a:t>Text level 4</a:t>
            </a:r>
          </a:p>
          <a:p>
            <a:pPr lvl="4"/>
            <a:r>
              <a:rPr lang="en-US" noProof="0" dirty="0" smtClean="0"/>
              <a:t>Text level 5</a:t>
            </a:r>
            <a:endParaRPr lang="en-US" noProof="0" dirty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268538" y="0"/>
            <a:ext cx="1727200" cy="2628000"/>
          </a:xfrm>
          <a:solidFill>
            <a:srgbClr val="EAEAEA"/>
          </a:solidFill>
        </p:spPr>
        <p:txBody>
          <a:bodyPr tIns="612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4" name="Espace réservé pour une image  7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268538" y="2839500"/>
            <a:ext cx="1728000" cy="2304000"/>
          </a:xfrm>
          <a:solidFill>
            <a:srgbClr val="EAEAEA"/>
          </a:solidFill>
        </p:spPr>
        <p:txBody>
          <a:bodyPr tIns="612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5" name="Espace réservé pour une image  7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176353" y="0"/>
            <a:ext cx="1727200" cy="2124000"/>
          </a:xfrm>
          <a:solidFill>
            <a:srgbClr val="EAEAEA"/>
          </a:solidFill>
        </p:spPr>
        <p:txBody>
          <a:bodyPr tIns="612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6" name="Espace réservé pour une image 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176353" y="2335500"/>
            <a:ext cx="1728000" cy="2808000"/>
          </a:xfrm>
          <a:solidFill>
            <a:srgbClr val="EAEAEA"/>
          </a:solidFill>
        </p:spPr>
        <p:txBody>
          <a:bodyPr tIns="612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7" name="Espace réservé pour une image 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084168" y="-3650"/>
            <a:ext cx="1727200" cy="2916000"/>
          </a:xfrm>
          <a:solidFill>
            <a:srgbClr val="EAEAEA"/>
          </a:solidFill>
        </p:spPr>
        <p:txBody>
          <a:bodyPr tIns="612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8" name="Espace réservé pour une image  7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084168" y="3127500"/>
            <a:ext cx="1728000" cy="2016000"/>
          </a:xfrm>
          <a:solidFill>
            <a:srgbClr val="EAEAEA"/>
          </a:solidFill>
        </p:spPr>
        <p:txBody>
          <a:bodyPr tIns="612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9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803775"/>
            <a:ext cx="358776" cy="339726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3583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0" name="Espace réservé pour une image 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998462" y="864411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584325" y="1736148"/>
            <a:ext cx="1692275" cy="835602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4" name="Espace réservé pour une image 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140000" y="864411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5" name="Espace réservé du texte 7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725863" y="1736148"/>
            <a:ext cx="1692275" cy="835602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6" name="Espace réservé pour une image 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00192" y="864411"/>
            <a:ext cx="864000" cy="864000"/>
          </a:xfrm>
        </p:spPr>
        <p:txBody>
          <a:bodyPr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</a:t>
            </a:r>
            <a:endParaRPr lang="en-US" noProof="0" dirty="0"/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886055" y="1736148"/>
            <a:ext cx="1692275" cy="835602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Text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58775" y="3291830"/>
            <a:ext cx="8426450" cy="1116658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5" name="Espace réservé pour une image 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2934000"/>
          </a:xfrm>
          <a:solidFill>
            <a:srgbClr val="EAEAEA"/>
          </a:solidFill>
        </p:spPr>
        <p:txBody>
          <a:bodyPr bIns="1548000" anchor="ctr" anchorCtr="0"/>
          <a:lstStyle>
            <a:lvl1pPr>
              <a:defRPr sz="1000"/>
            </a:lvl1pPr>
          </a:lstStyle>
          <a:p>
            <a:r>
              <a:rPr lang="en-US" noProof="0" dirty="0" smtClean="0"/>
              <a:t>Select the icon to insert a picture then </a:t>
            </a:r>
            <a:br>
              <a:rPr lang="en-US" noProof="0" dirty="0" smtClean="0"/>
            </a:br>
            <a:r>
              <a:rPr lang="en-US" noProof="0" dirty="0" smtClean="0"/>
              <a:t>place the visual into background position </a:t>
            </a:r>
            <a:br>
              <a:rPr lang="en-US" noProof="0" dirty="0" smtClean="0"/>
            </a:br>
            <a:r>
              <a:rPr lang="en-US" noProof="0" dirty="0" smtClean="0"/>
              <a:t>(Right click with the mouse / Send to back)</a:t>
            </a:r>
          </a:p>
        </p:txBody>
      </p:sp>
    </p:spTree>
    <p:extLst>
      <p:ext uri="{BB962C8B-B14F-4D97-AF65-F5344CB8AC3E}">
        <p14:creationId xmlns:p14="http://schemas.microsoft.com/office/powerpoint/2010/main" val="763583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4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655378" y="3111810"/>
            <a:ext cx="936104" cy="828000"/>
          </a:xfrm>
          <a:prstGeom prst="callout2">
            <a:avLst>
              <a:gd name="adj1" fmla="val 43813"/>
              <a:gd name="adj2" fmla="val -10594"/>
              <a:gd name="adj3" fmla="val 43813"/>
              <a:gd name="adj4" fmla="val -42349"/>
              <a:gd name="adj5" fmla="val 3930"/>
              <a:gd name="adj6" fmla="val -74212"/>
            </a:avLst>
          </a:prstGeom>
          <a:ln>
            <a:solidFill>
              <a:schemeClr val="accent1"/>
            </a:solidFill>
          </a:ln>
        </p:spPr>
        <p:txBody>
          <a:bodyPr anchor="ctr" anchorCtr="0"/>
          <a:lstStyle>
            <a:lvl1pPr algn="l">
              <a:defRPr sz="1000" b="1">
                <a:solidFill>
                  <a:schemeClr val="accent1"/>
                </a:solidFill>
              </a:defRPr>
            </a:lvl1pPr>
            <a:lvl2pPr algn="l">
              <a:defRPr sz="1000" b="1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519772" y="3111810"/>
            <a:ext cx="936104" cy="828000"/>
          </a:xfrm>
          <a:prstGeom prst="callout2">
            <a:avLst>
              <a:gd name="adj1" fmla="val 44643"/>
              <a:gd name="adj2" fmla="val 114996"/>
              <a:gd name="adj3" fmla="val 44643"/>
              <a:gd name="adj4" fmla="val 145669"/>
              <a:gd name="adj5" fmla="val 3100"/>
              <a:gd name="adj6" fmla="val 176234"/>
            </a:avLst>
          </a:prstGeom>
          <a:ln>
            <a:solidFill>
              <a:schemeClr val="accent5"/>
            </a:solidFill>
          </a:ln>
        </p:spPr>
        <p:txBody>
          <a:bodyPr anchor="ctr" anchorCtr="0"/>
          <a:lstStyle>
            <a:lvl1pPr algn="r">
              <a:defRPr sz="1000" b="1">
                <a:solidFill>
                  <a:schemeClr val="accent5"/>
                </a:solidFill>
              </a:defRPr>
            </a:lvl1pPr>
            <a:lvl2pPr algn="r">
              <a:defRPr sz="1000" b="1">
                <a:solidFill>
                  <a:schemeClr val="accent5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19773" y="1308429"/>
            <a:ext cx="936104" cy="828000"/>
          </a:xfrm>
          <a:prstGeom prst="callout2">
            <a:avLst>
              <a:gd name="adj1" fmla="val 48795"/>
              <a:gd name="adj2" fmla="val 112793"/>
              <a:gd name="adj3" fmla="val 48795"/>
              <a:gd name="adj4" fmla="val 145669"/>
              <a:gd name="adj5" fmla="val 85303"/>
              <a:gd name="adj6" fmla="val 178437"/>
            </a:avLst>
          </a:prstGeom>
          <a:ln>
            <a:solidFill>
              <a:schemeClr val="bg2"/>
            </a:solidFill>
          </a:ln>
        </p:spPr>
        <p:txBody>
          <a:bodyPr anchor="ctr" anchorCtr="0"/>
          <a:lstStyle>
            <a:lvl1pPr algn="r">
              <a:defRPr sz="1000" b="1">
                <a:solidFill>
                  <a:schemeClr val="bg2"/>
                </a:solidFill>
              </a:defRPr>
            </a:lvl1pPr>
            <a:lvl2pPr algn="r">
              <a:defRPr sz="1000" b="1">
                <a:solidFill>
                  <a:schemeClr val="bg2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655378" y="1304237"/>
            <a:ext cx="936104" cy="828000"/>
          </a:xfrm>
          <a:prstGeom prst="callout2">
            <a:avLst>
              <a:gd name="adj1" fmla="val 48795"/>
              <a:gd name="adj2" fmla="val -10594"/>
              <a:gd name="adj3" fmla="val 48794"/>
              <a:gd name="adj4" fmla="val -43818"/>
              <a:gd name="adj5" fmla="val 81982"/>
              <a:gd name="adj6" fmla="val -72009"/>
            </a:avLst>
          </a:prstGeom>
          <a:ln>
            <a:solidFill>
              <a:srgbClr val="FFCD1E"/>
            </a:solidFill>
          </a:ln>
        </p:spPr>
        <p:txBody>
          <a:bodyPr anchor="ctr" anchorCtr="0"/>
          <a:lstStyle>
            <a:lvl1pPr algn="l">
              <a:defRPr sz="1000" b="1">
                <a:solidFill>
                  <a:srgbClr val="FFCD1E"/>
                </a:solidFill>
              </a:defRPr>
            </a:lvl1pPr>
            <a:lvl2pPr algn="l">
              <a:defRPr sz="1000" b="1">
                <a:solidFill>
                  <a:srgbClr val="FFCD1E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791580" y="1304237"/>
            <a:ext cx="1728192" cy="763457"/>
          </a:xfrm>
          <a:prstGeom prst="roundRect">
            <a:avLst>
              <a:gd name="adj" fmla="val 5779"/>
            </a:avLst>
          </a:prstGeom>
          <a:solidFill>
            <a:schemeClr val="bg2"/>
          </a:solidFill>
        </p:spPr>
        <p:txBody>
          <a:bodyPr lIns="72000" tIns="36000" rIns="36000" bIns="36000" anchor="ctr" anchorCtr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 hasCustomPrompt="1"/>
          </p:nvPr>
        </p:nvSpPr>
        <p:spPr bwMode="gray">
          <a:xfrm>
            <a:off x="358776" y="438663"/>
            <a:ext cx="8426450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791579" y="3107618"/>
            <a:ext cx="1728192" cy="763457"/>
          </a:xfrm>
          <a:prstGeom prst="roundRect">
            <a:avLst>
              <a:gd name="adj" fmla="val 5779"/>
            </a:avLst>
          </a:prstGeom>
          <a:solidFill>
            <a:schemeClr val="accent5"/>
          </a:solidFill>
        </p:spPr>
        <p:txBody>
          <a:bodyPr lIns="72000" tIns="36000" rIns="36000" bIns="36000" anchor="ctr" anchorCtr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 algn="l"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653357" y="3111810"/>
            <a:ext cx="1728192" cy="763457"/>
          </a:xfrm>
          <a:prstGeom prst="roundRect">
            <a:avLst>
              <a:gd name="adj" fmla="val 5779"/>
            </a:avLst>
          </a:prstGeom>
          <a:solidFill>
            <a:schemeClr val="accent1"/>
          </a:solidFill>
        </p:spPr>
        <p:txBody>
          <a:bodyPr lIns="72000" tIns="36000" rIns="36000" bIns="36000" anchor="ctr" anchorCtr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 algn="l"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653357" y="1304237"/>
            <a:ext cx="1728192" cy="763457"/>
          </a:xfrm>
          <a:prstGeom prst="roundRect">
            <a:avLst>
              <a:gd name="adj" fmla="val 5779"/>
            </a:avLst>
          </a:prstGeom>
          <a:solidFill>
            <a:srgbClr val="FFCD1E"/>
          </a:solidFill>
        </p:spPr>
        <p:txBody>
          <a:bodyPr lIns="72000" tIns="36000" rIns="36000" bIns="36000" anchor="ctr" anchorCtr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 algn="l"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851920" y="1851025"/>
            <a:ext cx="1440805" cy="1441450"/>
          </a:xfrm>
          <a:prstGeom prst="ellipse">
            <a:avLst/>
          </a:prstGeom>
          <a:solidFill>
            <a:schemeClr val="tx2"/>
          </a:solidFill>
        </p:spPr>
        <p:txBody>
          <a:bodyPr anchor="ctr" anchorCtr="0"/>
          <a:lstStyle>
            <a:lvl1pPr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763583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8776" y="438663"/>
            <a:ext cx="8426450" cy="33288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5" name="Espace réservé du tableau 4"/>
          <p:cNvSpPr>
            <a:spLocks noGrp="1"/>
          </p:cNvSpPr>
          <p:nvPr>
            <p:ph type="tbl" sz="quarter" idx="13" hasCustomPrompt="1"/>
          </p:nvPr>
        </p:nvSpPr>
        <p:spPr bwMode="gray">
          <a:xfrm>
            <a:off x="358775" y="771525"/>
            <a:ext cx="8426450" cy="3708437"/>
          </a:xfrm>
        </p:spPr>
        <p:txBody>
          <a:bodyPr tIns="540000" anchor="ctr" anchorCtr="0"/>
          <a:lstStyle>
            <a:lvl1pPr>
              <a:defRPr/>
            </a:lvl1pPr>
          </a:lstStyle>
          <a:p>
            <a:r>
              <a:rPr lang="en-US" noProof="0" dirty="0" smtClean="0"/>
              <a:t>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1277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8776" y="438663"/>
            <a:ext cx="8426450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8776" y="1088461"/>
            <a:ext cx="2717512" cy="576262"/>
          </a:xfrm>
        </p:spPr>
        <p:txBody>
          <a:bodyPr/>
          <a:lstStyle>
            <a:lvl1pPr>
              <a:spcAft>
                <a:spcPts val="600"/>
              </a:spcAft>
              <a:defRPr sz="1000" cap="all" baseline="0"/>
            </a:lvl1pPr>
            <a:lvl2pPr marL="0" indent="0">
              <a:buNone/>
              <a:defRPr sz="1000">
                <a:solidFill>
                  <a:srgbClr val="E6324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44533" y="1851025"/>
            <a:ext cx="1224000" cy="684000"/>
          </a:xfrm>
        </p:spPr>
        <p:txBody>
          <a:bodyPr anchor="ctr" anchorCtr="0"/>
          <a:lstStyle>
            <a:lvl1pPr>
              <a:defRPr sz="1000" b="1"/>
            </a:lvl1pPr>
            <a:lvl2pPr marL="0" indent="0">
              <a:buNone/>
              <a:defRPr sz="1000" b="0"/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619673" y="1844727"/>
            <a:ext cx="684000" cy="684000"/>
          </a:xfrm>
          <a:prstGeom prst="ellipse">
            <a:avLst/>
          </a:prstGeom>
          <a:solidFill>
            <a:srgbClr val="DCDC00"/>
          </a:solidFill>
        </p:spPr>
        <p:txBody>
          <a:bodyPr wrap="none" anchor="ctr" anchorCtr="0"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 smtClean="0"/>
              <a:t>+00%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44533" y="2664587"/>
            <a:ext cx="1224000" cy="684000"/>
          </a:xfrm>
        </p:spPr>
        <p:txBody>
          <a:bodyPr anchor="ctr" anchorCtr="0"/>
          <a:lstStyle>
            <a:lvl1pPr>
              <a:defRPr sz="1000" b="1"/>
            </a:lvl1pPr>
            <a:lvl2pPr marL="0" indent="0">
              <a:buNone/>
              <a:defRPr sz="1000" b="0"/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619673" y="2658289"/>
            <a:ext cx="684000" cy="684000"/>
          </a:xfrm>
          <a:prstGeom prst="ellipse">
            <a:avLst/>
          </a:prstGeom>
          <a:solidFill>
            <a:schemeClr val="accent6"/>
          </a:solidFill>
        </p:spPr>
        <p:txBody>
          <a:bodyPr wrap="none" anchor="ctr" anchorCtr="0"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 smtClean="0"/>
              <a:t>+00%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44533" y="3478148"/>
            <a:ext cx="1224000" cy="684000"/>
          </a:xfrm>
        </p:spPr>
        <p:txBody>
          <a:bodyPr anchor="ctr" anchorCtr="0"/>
          <a:lstStyle>
            <a:lvl1pPr>
              <a:defRPr sz="1000" b="1"/>
            </a:lvl1pPr>
            <a:lvl2pPr marL="0" indent="0">
              <a:buNone/>
              <a:defRPr sz="1000" b="0"/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619673" y="3471850"/>
            <a:ext cx="684000" cy="684000"/>
          </a:xfrm>
          <a:prstGeom prst="ellipse">
            <a:avLst/>
          </a:prstGeom>
          <a:solidFill>
            <a:schemeClr val="bg2"/>
          </a:solidFill>
        </p:spPr>
        <p:txBody>
          <a:bodyPr wrap="none" anchor="ctr" anchorCtr="0"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 smtClean="0"/>
              <a:t>+00%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213243" y="1088461"/>
            <a:ext cx="2717512" cy="576262"/>
          </a:xfrm>
        </p:spPr>
        <p:txBody>
          <a:bodyPr/>
          <a:lstStyle>
            <a:lvl1pPr>
              <a:spcAft>
                <a:spcPts val="600"/>
              </a:spcAft>
              <a:defRPr sz="1000" cap="all" baseline="0"/>
            </a:lvl1pPr>
            <a:lvl2pPr marL="0" indent="0">
              <a:buNone/>
              <a:defRPr sz="1000">
                <a:solidFill>
                  <a:srgbClr val="E6324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21" hasCustomPrompt="1"/>
          </p:nvPr>
        </p:nvSpPr>
        <p:spPr bwMode="gray">
          <a:xfrm>
            <a:off x="3213243" y="1779663"/>
            <a:ext cx="2718000" cy="2628826"/>
          </a:xfrm>
        </p:spPr>
        <p:txBody>
          <a:bodyPr tIns="540000" anchor="ctr" anchorCtr="0"/>
          <a:lstStyle>
            <a:lvl1pPr>
              <a:defRPr/>
            </a:lvl1pPr>
          </a:lstStyle>
          <a:p>
            <a:r>
              <a:rPr lang="en-US" noProof="0" dirty="0" smtClean="0"/>
              <a:t>Graph</a:t>
            </a:r>
            <a:endParaRPr lang="en-US" noProof="0" dirty="0"/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052092" y="1088461"/>
            <a:ext cx="2717512" cy="576262"/>
          </a:xfrm>
        </p:spPr>
        <p:txBody>
          <a:bodyPr/>
          <a:lstStyle>
            <a:lvl1pPr>
              <a:spcAft>
                <a:spcPts val="600"/>
              </a:spcAft>
              <a:defRPr sz="1000" cap="all" baseline="0"/>
            </a:lvl1pPr>
            <a:lvl2pPr marL="0" indent="0">
              <a:buNone/>
              <a:defRPr sz="1000">
                <a:solidFill>
                  <a:srgbClr val="E63241"/>
                </a:solidFill>
              </a:defRPr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21" name="Espace réservé du graphique 7"/>
          <p:cNvSpPr>
            <a:spLocks noGrp="1"/>
          </p:cNvSpPr>
          <p:nvPr>
            <p:ph type="chart" sz="quarter" idx="23" hasCustomPrompt="1"/>
          </p:nvPr>
        </p:nvSpPr>
        <p:spPr bwMode="gray">
          <a:xfrm>
            <a:off x="6052092" y="1779663"/>
            <a:ext cx="2718000" cy="2628826"/>
          </a:xfrm>
        </p:spPr>
        <p:txBody>
          <a:bodyPr tIns="540000" anchor="ctr" anchorCtr="0"/>
          <a:lstStyle/>
          <a:p>
            <a:r>
              <a:rPr lang="en-US" noProof="0" dirty="0" smtClean="0"/>
              <a:t>Graph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9613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917063" y="1807162"/>
            <a:ext cx="1258888" cy="1260475"/>
          </a:xfrm>
          <a:prstGeom prst="ellipse">
            <a:avLst/>
          </a:prstGeom>
          <a:solidFill>
            <a:srgbClr val="DCDC00"/>
          </a:solidFill>
        </p:spPr>
        <p:txBody>
          <a:bodyPr anchor="ctr" anchorCtr="0"/>
          <a:lstStyle>
            <a:lvl1pPr>
              <a:defRPr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noProof="0" dirty="0" smtClean="0"/>
              <a:t>+00%</a:t>
            </a:r>
            <a:endParaRPr lang="en-US" noProof="0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628635" y="3197171"/>
            <a:ext cx="1835745" cy="1152525"/>
          </a:xfrm>
        </p:spPr>
        <p:txBody>
          <a:bodyPr/>
          <a:lstStyle>
            <a:lvl1pPr>
              <a:defRPr sz="1000" b="1"/>
            </a:lvl1pPr>
            <a:lvl2pPr marL="0" indent="0">
              <a:buNone/>
              <a:defRPr sz="1000"/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928608" y="1807162"/>
            <a:ext cx="1258888" cy="1260475"/>
          </a:xfrm>
          <a:prstGeom prst="ellipse">
            <a:avLst/>
          </a:prstGeom>
          <a:solidFill>
            <a:schemeClr val="bg2"/>
          </a:solidFill>
        </p:spPr>
        <p:txBody>
          <a:bodyPr anchor="ctr" anchorCtr="0"/>
          <a:lstStyle>
            <a:lvl1pPr>
              <a:defRPr sz="2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 smtClean="0"/>
              <a:t>+00%</a:t>
            </a:r>
            <a:endParaRPr lang="en-US" noProof="0" dirty="0"/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640180" y="3197171"/>
            <a:ext cx="1835745" cy="1152525"/>
          </a:xfrm>
        </p:spPr>
        <p:txBody>
          <a:bodyPr/>
          <a:lstStyle>
            <a:lvl1pPr>
              <a:defRPr sz="1000" b="1"/>
            </a:lvl1pPr>
            <a:lvl2pPr marL="0" indent="0">
              <a:buNone/>
              <a:defRPr sz="1000"/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940152" y="1807162"/>
            <a:ext cx="1258888" cy="1260475"/>
          </a:xfrm>
          <a:prstGeom prst="ellipse">
            <a:avLst/>
          </a:prstGeom>
          <a:solidFill>
            <a:schemeClr val="accent5"/>
          </a:solidFill>
        </p:spPr>
        <p:txBody>
          <a:bodyPr anchor="ctr" anchorCtr="0"/>
          <a:lstStyle>
            <a:lvl1pPr>
              <a:defRPr sz="2200">
                <a:solidFill>
                  <a:srgbClr val="DCDC00"/>
                </a:solidFill>
              </a:defRPr>
            </a:lvl1pPr>
          </a:lstStyle>
          <a:p>
            <a:pPr lvl="0"/>
            <a:r>
              <a:rPr lang="en-US" noProof="0" dirty="0" smtClean="0"/>
              <a:t>+00%</a:t>
            </a:r>
            <a:endParaRPr lang="en-US" noProof="0" dirty="0"/>
          </a:p>
        </p:txBody>
      </p:sp>
      <p:sp>
        <p:nvSpPr>
          <p:cNvPr id="15" name="Espace réservé du texte 7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651724" y="3197171"/>
            <a:ext cx="1835745" cy="1152525"/>
          </a:xfrm>
        </p:spPr>
        <p:txBody>
          <a:bodyPr/>
          <a:lstStyle>
            <a:lvl1pPr>
              <a:defRPr sz="1000" b="1"/>
            </a:lvl1pPr>
            <a:lvl2pPr marL="0" indent="0">
              <a:buNone/>
              <a:defRPr sz="1000"/>
            </a:lvl2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2931213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 userDrawn="1"/>
        </p:nvSpPr>
        <p:spPr bwMode="gray">
          <a:xfrm>
            <a:off x="1572031" y="1979555"/>
            <a:ext cx="936000" cy="1188000"/>
          </a:xfrm>
          <a:prstGeom prst="roundRect">
            <a:avLst>
              <a:gd name="adj" fmla="val 231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1625985" y="2324484"/>
            <a:ext cx="828092" cy="792000"/>
          </a:xfrm>
          <a:solidFill>
            <a:schemeClr val="bg1"/>
          </a:solidFill>
        </p:spPr>
        <p:txBody>
          <a:bodyPr anchor="ctr" anchorCtr="0"/>
          <a:lstStyle>
            <a:lvl1pPr algn="ctr">
              <a:defRPr sz="4500"/>
            </a:lvl1pPr>
          </a:lstStyle>
          <a:p>
            <a:r>
              <a:rPr lang="en-US" noProof="0" dirty="0" smtClean="0"/>
              <a:t>00</a:t>
            </a:r>
            <a:endParaRPr lang="en-US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572000" y="1433476"/>
            <a:ext cx="3132138" cy="2975012"/>
          </a:xfrm>
        </p:spPr>
        <p:txBody>
          <a:bodyPr/>
          <a:lstStyle>
            <a:lvl1pPr>
              <a:spcAft>
                <a:spcPts val="700"/>
              </a:spcAft>
              <a:defRPr sz="1000" b="1" cap="all" baseline="0">
                <a:solidFill>
                  <a:schemeClr val="accent5"/>
                </a:solidFill>
              </a:defRPr>
            </a:lvl1pPr>
            <a:lvl2pPr marL="0" indent="0">
              <a:buNone/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  <a:p>
            <a:pPr lvl="2"/>
            <a:r>
              <a:rPr lang="en-US" noProof="0" dirty="0" smtClean="0"/>
              <a:t>Text level 3</a:t>
            </a:r>
          </a:p>
          <a:p>
            <a:pPr lvl="3"/>
            <a:r>
              <a:rPr lang="en-US" noProof="0" dirty="0" smtClean="0"/>
              <a:t>Text level 4</a:t>
            </a:r>
          </a:p>
          <a:p>
            <a:pPr lvl="4"/>
            <a:r>
              <a:rPr lang="en-US" noProof="0" dirty="0" smtClean="0"/>
              <a:t>Text level 5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3043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803774"/>
            <a:ext cx="35877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4060" y="4803774"/>
            <a:ext cx="354715" cy="339725"/>
          </a:xfrm>
        </p:spPr>
        <p:txBody>
          <a:bodyPr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87924" y="2417599"/>
            <a:ext cx="1368000" cy="30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04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8776" y="438663"/>
            <a:ext cx="8426450" cy="8913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8775" y="1851671"/>
            <a:ext cx="8426450" cy="25562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 dirty="0" smtClean="0"/>
              <a:t>Text level 1</a:t>
            </a:r>
          </a:p>
          <a:p>
            <a:pPr lvl="1"/>
            <a:r>
              <a:rPr lang="en-US" noProof="0" dirty="0" smtClean="0"/>
              <a:t>Text level 2</a:t>
            </a:r>
          </a:p>
          <a:p>
            <a:pPr lvl="2"/>
            <a:r>
              <a:rPr lang="en-US" noProof="0" dirty="0" smtClean="0"/>
              <a:t>Text level 3</a:t>
            </a:r>
          </a:p>
          <a:p>
            <a:pPr lvl="3"/>
            <a:r>
              <a:rPr lang="en-US" noProof="0" dirty="0" smtClean="0"/>
              <a:t>Text level 4</a:t>
            </a:r>
          </a:p>
          <a:p>
            <a:pPr lvl="4"/>
            <a:r>
              <a:rPr lang="en-US" noProof="0" dirty="0" smtClean="0"/>
              <a:t>Text level 5</a:t>
            </a:r>
            <a:endParaRPr lang="en-US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0" y="4803775"/>
            <a:ext cx="358776" cy="3397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 noProof="0" smtClean="0"/>
              <a:t>Date</a:t>
            </a:r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10421" y="4551970"/>
            <a:ext cx="6840000" cy="2518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noProof="0" smtClean="0"/>
              <a:t>Presentation title</a:t>
            </a:r>
            <a:endParaRPr lang="en-US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-508" y="4551970"/>
            <a:ext cx="432060" cy="2518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733122C9-A0B9-462F-8757-0847AD287B6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8223" y="4617830"/>
            <a:ext cx="828000" cy="1864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36" r:id="rId2"/>
    <p:sldLayoutId id="2147483821" r:id="rId3"/>
    <p:sldLayoutId id="2147483837" r:id="rId4"/>
    <p:sldLayoutId id="2147483809" r:id="rId5"/>
    <p:sldLayoutId id="2147483810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  <p:sldLayoutId id="2147483811" r:id="rId20"/>
    <p:sldLayoutId id="2147483812" r:id="rId21"/>
    <p:sldLayoutId id="2147483813" r:id="rId22"/>
    <p:sldLayoutId id="2147483814" r:id="rId23"/>
    <p:sldLayoutId id="2147483815" r:id="rId24"/>
    <p:sldLayoutId id="2147483816" r:id="rId25"/>
    <p:sldLayoutId id="2147483817" r:id="rId26"/>
    <p:sldLayoutId id="2147483835" r:id="rId2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None/>
        <a:defRPr sz="11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109538" indent="-109538" algn="ctr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•"/>
        <a:defRPr sz="11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1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8000" indent="-108000" algn="l" defTabSz="91440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Char char="•"/>
        <a:defRPr sz="1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216000" indent="-108000" algn="l" defTabSz="91440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Char char="•"/>
        <a:tabLst/>
        <a:defRPr sz="11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jpg"/><Relationship Id="rId11" Type="http://schemas.openxmlformats.org/officeDocument/2006/relationships/image" Target="../media/image21.jpeg"/><Relationship Id="rId5" Type="http://schemas.openxmlformats.org/officeDocument/2006/relationships/image" Target="../media/image16.jpg"/><Relationship Id="rId10" Type="http://schemas.openxmlformats.org/officeDocument/2006/relationships/image" Target="../media/image1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endParaRPr lang="fr-FR" dirty="0"/>
          </a:p>
        </p:txBody>
      </p:sp>
      <p:pic>
        <p:nvPicPr>
          <p:cNvPr id="13" name="Espace réservé pour une image  12"/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8" name="Espace réservé pour une image  17"/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4" name="Espace réservé pour une image  13"/>
          <p:cNvPicPr>
            <a:picLocks noGrp="1" noChangeAspect="1"/>
          </p:cNvPicPr>
          <p:nvPr>
            <p:ph type="pic" sz="quarter" idx="16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" b="92"/>
          <a:stretch>
            <a:fillRect/>
          </a:stretch>
        </p:blipFill>
        <p:spPr/>
      </p:pic>
      <p:pic>
        <p:nvPicPr>
          <p:cNvPr id="15" name="Espace réservé pour une image  14"/>
          <p:cNvPicPr>
            <a:picLocks noGrp="1" noChangeAspect="1"/>
          </p:cNvPicPr>
          <p:nvPr>
            <p:ph type="pic" sz="quarter" idx="17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6" name="Espace réservé pour une image  15"/>
          <p:cNvPicPr>
            <a:picLocks noGrp="1" noChangeAspect="1"/>
          </p:cNvPicPr>
          <p:nvPr>
            <p:ph type="pic" sz="quarter" idx="18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Espace réservé pour une image  16"/>
          <p:cNvPicPr>
            <a:picLocks noGrp="1" noChangeAspect="1"/>
          </p:cNvPicPr>
          <p:nvPr>
            <p:ph type="pic" sz="quarter" idx="19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" b="92"/>
          <a:stretch>
            <a:fillRect/>
          </a:stretch>
        </p:blipFill>
        <p:spPr/>
      </p:pic>
      <p:sp>
        <p:nvSpPr>
          <p:cNvPr id="11" name="Sous-titr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mtClean="0"/>
              <a:t>06/12/2019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sz="3200" b="1" dirty="0" smtClean="0"/>
              <a:t>CODE RACE</a:t>
            </a:r>
          </a:p>
          <a:p>
            <a:r>
              <a:rPr lang="fr-FR" sz="3200" dirty="0" err="1" smtClean="0"/>
              <a:t>Desafio</a:t>
            </a:r>
            <a:endParaRPr lang="fr-FR" sz="3200" dirty="0" smtClean="0"/>
          </a:p>
        </p:txBody>
      </p:sp>
    </p:spTree>
    <p:extLst>
      <p:ext uri="{BB962C8B-B14F-4D97-AF65-F5344CB8AC3E}">
        <p14:creationId xmlns:p14="http://schemas.microsoft.com/office/powerpoint/2010/main" val="111636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dirty="0" err="1" smtClean="0"/>
              <a:t>Big</a:t>
            </a:r>
            <a:r>
              <a:rPr lang="fr-FR" dirty="0" smtClean="0"/>
              <a:t> Data Tools &amp; Applications</a:t>
            </a:r>
            <a:endParaRPr lang="fr-FR" dirty="0"/>
          </a:p>
        </p:txBody>
      </p:sp>
      <p:sp>
        <p:nvSpPr>
          <p:cNvPr id="24" name="Titre 23"/>
          <p:cNvSpPr>
            <a:spLocks noGrp="1"/>
          </p:cNvSpPr>
          <p:nvPr>
            <p:ph type="title"/>
          </p:nvPr>
        </p:nvSpPr>
        <p:spPr>
          <a:xfrm>
            <a:off x="358776" y="428219"/>
            <a:ext cx="8426450" cy="891380"/>
          </a:xfrm>
        </p:spPr>
        <p:txBody>
          <a:bodyPr/>
          <a:lstStyle/>
          <a:p>
            <a:r>
              <a:rPr lang="fr-FR" b="1" dirty="0" smtClean="0">
                <a:solidFill>
                  <a:srgbClr val="007EAF"/>
                </a:solidFill>
              </a:rPr>
              <a:t>Agenda</a:t>
            </a:r>
            <a:endParaRPr lang="fr-FR" b="1" dirty="0">
              <a:solidFill>
                <a:srgbClr val="007EAF"/>
              </a:solidFill>
            </a:endParaRPr>
          </a:p>
        </p:txBody>
      </p:sp>
      <p:sp>
        <p:nvSpPr>
          <p:cNvPr id="41" name="Espace réservé du texte 40"/>
          <p:cNvSpPr>
            <a:spLocks noGrp="1"/>
          </p:cNvSpPr>
          <p:nvPr>
            <p:ph type="body" sz="quarter" idx="13"/>
          </p:nvPr>
        </p:nvSpPr>
        <p:spPr>
          <a:xfrm>
            <a:off x="827584" y="1319598"/>
            <a:ext cx="273152" cy="316047"/>
          </a:xfrm>
          <a:solidFill>
            <a:srgbClr val="33CCCC"/>
          </a:solidFill>
        </p:spPr>
        <p:txBody>
          <a:bodyPr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63" name="Espace réservé du texte 62"/>
          <p:cNvSpPr>
            <a:spLocks noGrp="1"/>
          </p:cNvSpPr>
          <p:nvPr>
            <p:ph type="body" sz="quarter" idx="14"/>
          </p:nvPr>
        </p:nvSpPr>
        <p:spPr>
          <a:xfrm>
            <a:off x="1166776" y="1316035"/>
            <a:ext cx="4972632" cy="319611"/>
          </a:xfrm>
          <a:solidFill>
            <a:srgbClr val="33CCCC"/>
          </a:solidFill>
        </p:spPr>
        <p:txBody>
          <a:bodyPr anchor="ctr"/>
          <a:lstStyle/>
          <a:p>
            <a:pPr marL="182880"/>
            <a:r>
              <a:rPr lang="pt-PT" b="1" dirty="0" smtClean="0">
                <a:solidFill>
                  <a:schemeClr val="bg1"/>
                </a:solidFill>
              </a:rPr>
              <a:t>Contexto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8" name="Espace réservé du texte 62"/>
          <p:cNvSpPr txBox="1">
            <a:spLocks/>
          </p:cNvSpPr>
          <p:nvPr/>
        </p:nvSpPr>
        <p:spPr bwMode="gray">
          <a:xfrm>
            <a:off x="1175160" y="1844863"/>
            <a:ext cx="4972632" cy="319611"/>
          </a:xfrm>
          <a:prstGeom prst="rect">
            <a:avLst/>
          </a:prstGeom>
          <a:solidFill>
            <a:srgbClr val="0066CC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109538" indent="-10953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108000" indent="-10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Char char="•"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216000" indent="-10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Char char="•"/>
              <a:tabLst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/>
            <a:r>
              <a:rPr lang="fr-FR" b="1" dirty="0" smtClean="0">
                <a:solidFill>
                  <a:schemeClr val="bg1"/>
                </a:solidFill>
              </a:rPr>
              <a:t>O </a:t>
            </a:r>
            <a:r>
              <a:rPr lang="fr-FR" b="1" dirty="0" err="1" smtClean="0">
                <a:solidFill>
                  <a:schemeClr val="bg1"/>
                </a:solidFill>
              </a:rPr>
              <a:t>Desafio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0" name="Espace réservé du texte 40"/>
          <p:cNvSpPr>
            <a:spLocks noGrp="1"/>
          </p:cNvSpPr>
          <p:nvPr>
            <p:ph type="body" sz="quarter" idx="13"/>
          </p:nvPr>
        </p:nvSpPr>
        <p:spPr>
          <a:xfrm>
            <a:off x="823451" y="1844863"/>
            <a:ext cx="273152" cy="316047"/>
          </a:xfrm>
          <a:solidFill>
            <a:srgbClr val="0066CC"/>
          </a:solidFill>
        </p:spPr>
        <p:txBody>
          <a:bodyPr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2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9" name="Espace réservé du texte 40"/>
          <p:cNvSpPr>
            <a:spLocks noGrp="1"/>
          </p:cNvSpPr>
          <p:nvPr>
            <p:ph type="body" sz="quarter" idx="13"/>
          </p:nvPr>
        </p:nvSpPr>
        <p:spPr>
          <a:xfrm>
            <a:off x="835968" y="2370126"/>
            <a:ext cx="273152" cy="316047"/>
          </a:xfrm>
          <a:solidFill>
            <a:srgbClr val="3399FF"/>
          </a:solidFill>
        </p:spPr>
        <p:txBody>
          <a:bodyPr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3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0" name="Espace réservé du texte 62"/>
          <p:cNvSpPr>
            <a:spLocks noGrp="1"/>
          </p:cNvSpPr>
          <p:nvPr>
            <p:ph type="body" sz="quarter" idx="14"/>
          </p:nvPr>
        </p:nvSpPr>
        <p:spPr>
          <a:xfrm>
            <a:off x="1175160" y="2366563"/>
            <a:ext cx="4972632" cy="319611"/>
          </a:xfrm>
          <a:solidFill>
            <a:srgbClr val="3399FF"/>
          </a:solidFill>
        </p:spPr>
        <p:txBody>
          <a:bodyPr anchor="ctr"/>
          <a:lstStyle/>
          <a:p>
            <a:pPr marL="182880"/>
            <a:r>
              <a:rPr lang="en-US" b="1" dirty="0" err="1" smtClean="0">
                <a:solidFill>
                  <a:schemeClr val="bg1"/>
                </a:solidFill>
              </a:rPr>
              <a:t>Arquitetura</a:t>
            </a:r>
            <a:r>
              <a:rPr lang="en-US" b="1" dirty="0" smtClean="0">
                <a:solidFill>
                  <a:schemeClr val="bg1"/>
                </a:solidFill>
              </a:rPr>
              <a:t> da </a:t>
            </a:r>
            <a:r>
              <a:rPr lang="en-US" b="1" dirty="0" err="1" smtClean="0">
                <a:solidFill>
                  <a:schemeClr val="bg1"/>
                </a:solidFill>
              </a:rPr>
              <a:t>Solução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Espace réservé du texte 62"/>
          <p:cNvSpPr txBox="1">
            <a:spLocks/>
          </p:cNvSpPr>
          <p:nvPr/>
        </p:nvSpPr>
        <p:spPr bwMode="gray">
          <a:xfrm>
            <a:off x="1183544" y="2895391"/>
            <a:ext cx="4972632" cy="319611"/>
          </a:xfrm>
          <a:prstGeom prst="rect">
            <a:avLst/>
          </a:prstGeom>
          <a:solidFill>
            <a:srgbClr val="66CCFF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109538" indent="-10953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108000" indent="-10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Char char="•"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216000" indent="-10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Char char="•"/>
              <a:tabLst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/>
            <a:r>
              <a:rPr lang="en-US" b="1" dirty="0" err="1" smtClean="0">
                <a:solidFill>
                  <a:schemeClr val="bg1"/>
                </a:solidFill>
              </a:rPr>
              <a:t>Requisitos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Funcionais</a:t>
            </a:r>
            <a:r>
              <a:rPr lang="en-US" b="1" dirty="0" smtClean="0">
                <a:solidFill>
                  <a:schemeClr val="bg1"/>
                </a:solidFill>
              </a:rPr>
              <a:t> e </a:t>
            </a:r>
            <a:r>
              <a:rPr lang="en-US" b="1" dirty="0" err="1" smtClean="0">
                <a:solidFill>
                  <a:schemeClr val="bg1"/>
                </a:solidFill>
              </a:rPr>
              <a:t>Técnicos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2" name="Espace réservé du texte 40"/>
          <p:cNvSpPr>
            <a:spLocks noGrp="1"/>
          </p:cNvSpPr>
          <p:nvPr>
            <p:ph type="body" sz="quarter" idx="13"/>
          </p:nvPr>
        </p:nvSpPr>
        <p:spPr>
          <a:xfrm>
            <a:off x="831835" y="2895391"/>
            <a:ext cx="273152" cy="316047"/>
          </a:xfrm>
          <a:solidFill>
            <a:srgbClr val="66CCFF"/>
          </a:solidFill>
        </p:spPr>
        <p:txBody>
          <a:bodyPr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3" name="Espace réservé du texte 40"/>
          <p:cNvSpPr>
            <a:spLocks noGrp="1"/>
          </p:cNvSpPr>
          <p:nvPr>
            <p:ph type="body" sz="quarter" idx="13"/>
          </p:nvPr>
        </p:nvSpPr>
        <p:spPr>
          <a:xfrm>
            <a:off x="844352" y="3420652"/>
            <a:ext cx="273152" cy="316047"/>
          </a:xfrm>
          <a:solidFill>
            <a:srgbClr val="333399"/>
          </a:solidFill>
        </p:spPr>
        <p:txBody>
          <a:bodyPr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5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4" name="Espace réservé du texte 62"/>
          <p:cNvSpPr>
            <a:spLocks noGrp="1"/>
          </p:cNvSpPr>
          <p:nvPr>
            <p:ph type="body" sz="quarter" idx="14"/>
          </p:nvPr>
        </p:nvSpPr>
        <p:spPr>
          <a:xfrm>
            <a:off x="1183544" y="3417089"/>
            <a:ext cx="4972632" cy="319611"/>
          </a:xfrm>
          <a:solidFill>
            <a:srgbClr val="333399"/>
          </a:solidFill>
        </p:spPr>
        <p:txBody>
          <a:bodyPr anchor="ctr"/>
          <a:lstStyle/>
          <a:p>
            <a:pPr marL="182880"/>
            <a:r>
              <a:rPr lang="en-US" b="1" dirty="0" smtClean="0">
                <a:solidFill>
                  <a:schemeClr val="bg1"/>
                </a:solidFill>
              </a:rPr>
              <a:t>Checkpoints, </a:t>
            </a:r>
            <a:r>
              <a:rPr lang="en-US" b="1" dirty="0" err="1" smtClean="0">
                <a:solidFill>
                  <a:schemeClr val="bg1"/>
                </a:solidFill>
              </a:rPr>
              <a:t>Mentores</a:t>
            </a:r>
            <a:r>
              <a:rPr lang="en-US" b="1" dirty="0" smtClean="0">
                <a:solidFill>
                  <a:schemeClr val="bg1"/>
                </a:solidFill>
              </a:rPr>
              <a:t> e </a:t>
            </a:r>
            <a:r>
              <a:rPr lang="en-US" b="1" dirty="0" err="1" smtClean="0">
                <a:solidFill>
                  <a:schemeClr val="bg1"/>
                </a:solidFill>
              </a:rPr>
              <a:t>Entregáveis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5" name="Espace réservé du texte 62"/>
          <p:cNvSpPr txBox="1">
            <a:spLocks/>
          </p:cNvSpPr>
          <p:nvPr/>
        </p:nvSpPr>
        <p:spPr bwMode="gray">
          <a:xfrm>
            <a:off x="1191928" y="3945917"/>
            <a:ext cx="4972632" cy="319611"/>
          </a:xfrm>
          <a:prstGeom prst="rect">
            <a:avLst/>
          </a:prstGeom>
          <a:solidFill>
            <a:srgbClr val="7030A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109538" indent="-10953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108000" indent="-10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Char char="•"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216000" indent="-10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Char char="•"/>
              <a:tabLst/>
              <a:defRPr sz="1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/>
            <a:r>
              <a:rPr lang="en-US" b="1" dirty="0" err="1" smtClean="0">
                <a:solidFill>
                  <a:schemeClr val="bg1"/>
                </a:solidFill>
              </a:rPr>
              <a:t>Fatores</a:t>
            </a:r>
            <a:r>
              <a:rPr lang="en-US" b="1" dirty="0" smtClean="0">
                <a:solidFill>
                  <a:schemeClr val="bg1"/>
                </a:solidFill>
              </a:rPr>
              <a:t> de </a:t>
            </a:r>
            <a:r>
              <a:rPr lang="en-US" b="1" dirty="0" err="1" smtClean="0">
                <a:solidFill>
                  <a:schemeClr val="bg1"/>
                </a:solidFill>
              </a:rPr>
              <a:t>Avaliação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Espace réservé du texte 40"/>
          <p:cNvSpPr>
            <a:spLocks noGrp="1"/>
          </p:cNvSpPr>
          <p:nvPr>
            <p:ph type="body" sz="quarter" idx="13"/>
          </p:nvPr>
        </p:nvSpPr>
        <p:spPr>
          <a:xfrm>
            <a:off x="840219" y="3945917"/>
            <a:ext cx="273152" cy="316047"/>
          </a:xfrm>
          <a:solidFill>
            <a:srgbClr val="7030A0"/>
          </a:solidFill>
        </p:spPr>
        <p:txBody>
          <a:bodyPr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6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37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1.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smtClean="0"/>
              <a:t>Date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Presentation title</a:t>
            </a:r>
            <a:endParaRPr lang="fr-FR" noProof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noProof="0" smtClean="0"/>
              <a:pPr/>
              <a:t>3</a:t>
            </a:fld>
            <a:endParaRPr lang="fr-FR" noProof="0"/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 smtClean="0"/>
              <a:t>Contexto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152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1. </a:t>
            </a:r>
            <a:r>
              <a:rPr lang="fr-FR" dirty="0" err="1" smtClean="0"/>
              <a:t>Contexto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324271"/>
            <a:ext cx="2347297" cy="14952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09" y="2760151"/>
            <a:ext cx="2648680" cy="1522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2429" y="1131590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3B9BC1"/>
                </a:solidFill>
              </a:rPr>
              <a:t>Infotainment</a:t>
            </a:r>
            <a:endParaRPr lang="en-US" b="1" dirty="0">
              <a:solidFill>
                <a:srgbClr val="3B9BC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6142" y="1486466"/>
            <a:ext cx="55705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 smtClean="0">
                <a:solidFill>
                  <a:srgbClr val="3B9BC1"/>
                </a:solidFill>
              </a:rPr>
              <a:t>Disponibilizam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informação</a:t>
            </a:r>
            <a:r>
              <a:rPr lang="en-US" sz="1400" dirty="0" smtClean="0">
                <a:solidFill>
                  <a:srgbClr val="3B9BC1"/>
                </a:solidFill>
              </a:rPr>
              <a:t> e </a:t>
            </a:r>
            <a:r>
              <a:rPr lang="en-US" sz="1400" dirty="0" err="1" smtClean="0">
                <a:solidFill>
                  <a:srgbClr val="3B9BC1"/>
                </a:solidFill>
              </a:rPr>
              <a:t>entretenimento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dentro</a:t>
            </a:r>
            <a:r>
              <a:rPr lang="en-US" sz="1400" dirty="0" smtClean="0">
                <a:solidFill>
                  <a:srgbClr val="3B9BC1"/>
                </a:solidFill>
              </a:rPr>
              <a:t> de um </a:t>
            </a:r>
            <a:r>
              <a:rPr lang="en-US" sz="1400" dirty="0" err="1" smtClean="0">
                <a:solidFill>
                  <a:srgbClr val="3B9BC1"/>
                </a:solidFill>
              </a:rPr>
              <a:t>veículo</a:t>
            </a:r>
            <a:r>
              <a:rPr lang="en-US" sz="1400" dirty="0" smtClean="0">
                <a:solidFill>
                  <a:srgbClr val="3B9BC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 smtClean="0">
                <a:solidFill>
                  <a:srgbClr val="3B9BC1"/>
                </a:solidFill>
              </a:rPr>
              <a:t>Combinam</a:t>
            </a:r>
            <a:r>
              <a:rPr lang="en-US" sz="1400" dirty="0" smtClean="0">
                <a:solidFill>
                  <a:srgbClr val="3B9BC1"/>
                </a:solidFill>
              </a:rPr>
              <a:t> Hardware e Software e </a:t>
            </a:r>
            <a:r>
              <a:rPr lang="en-US" sz="1400" dirty="0" err="1" smtClean="0">
                <a:solidFill>
                  <a:srgbClr val="3B9BC1"/>
                </a:solidFill>
              </a:rPr>
              <a:t>utilizam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os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equipamentos</a:t>
            </a:r>
            <a:r>
              <a:rPr lang="en-US" sz="1400" dirty="0" smtClean="0">
                <a:solidFill>
                  <a:srgbClr val="3B9BC1"/>
                </a:solidFill>
              </a:rPr>
              <a:t> do </a:t>
            </a:r>
            <a:r>
              <a:rPr lang="en-US" sz="1400" dirty="0" err="1" smtClean="0">
                <a:solidFill>
                  <a:srgbClr val="3B9BC1"/>
                </a:solidFill>
              </a:rPr>
              <a:t>carro</a:t>
            </a:r>
            <a:r>
              <a:rPr lang="en-US" sz="1400" dirty="0" smtClean="0">
                <a:solidFill>
                  <a:srgbClr val="3B9BC1"/>
                </a:solidFill>
              </a:rPr>
              <a:t> para o </a:t>
            </a:r>
            <a:r>
              <a:rPr lang="en-US" sz="1400" dirty="0" err="1" smtClean="0">
                <a:solidFill>
                  <a:srgbClr val="3B9BC1"/>
                </a:solidFill>
              </a:rPr>
              <a:t>controlo</a:t>
            </a:r>
            <a:r>
              <a:rPr lang="en-US" sz="1400" dirty="0" smtClean="0">
                <a:solidFill>
                  <a:srgbClr val="3B9BC1"/>
                </a:solidFill>
              </a:rPr>
              <a:t> do Sistema.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3B9BC1"/>
                </a:solidFill>
              </a:rPr>
              <a:t>São </a:t>
            </a:r>
            <a:r>
              <a:rPr lang="en-US" sz="1400" dirty="0" err="1" smtClean="0">
                <a:solidFill>
                  <a:srgbClr val="3B9BC1"/>
                </a:solidFill>
              </a:rPr>
              <a:t>controlados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frequentemente</a:t>
            </a:r>
            <a:r>
              <a:rPr lang="en-US" sz="1400" dirty="0" smtClean="0">
                <a:solidFill>
                  <a:srgbClr val="3B9BC1"/>
                </a:solidFill>
              </a:rPr>
              <a:t> via </a:t>
            </a:r>
            <a:r>
              <a:rPr lang="en-US" sz="1400" dirty="0" err="1" smtClean="0">
                <a:solidFill>
                  <a:srgbClr val="3B9BC1"/>
                </a:solidFill>
              </a:rPr>
              <a:t>voz</a:t>
            </a:r>
            <a:r>
              <a:rPr lang="en-US" sz="1400" dirty="0" smtClean="0">
                <a:solidFill>
                  <a:srgbClr val="3B9BC1"/>
                </a:solidFill>
              </a:rPr>
              <a:t>, </a:t>
            </a:r>
            <a:r>
              <a:rPr lang="en-US" sz="1400" dirty="0" err="1" smtClean="0">
                <a:solidFill>
                  <a:srgbClr val="3B9BC1"/>
                </a:solidFill>
              </a:rPr>
              <a:t>áudio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ou</a:t>
            </a:r>
            <a:r>
              <a:rPr lang="en-US" sz="1400" dirty="0" smtClean="0">
                <a:solidFill>
                  <a:srgbClr val="3B9BC1"/>
                </a:solidFill>
              </a:rPr>
              <a:t> toque </a:t>
            </a:r>
            <a:r>
              <a:rPr lang="en-US" sz="1400" dirty="0" err="1" smtClean="0">
                <a:solidFill>
                  <a:srgbClr val="3B9BC1"/>
                </a:solidFill>
              </a:rPr>
              <a:t>em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ecrãs</a:t>
            </a:r>
            <a:r>
              <a:rPr lang="en-US" sz="1400" dirty="0" smtClean="0">
                <a:solidFill>
                  <a:srgbClr val="3B9BC1"/>
                </a:solidFill>
              </a:rPr>
              <a:t>.</a:t>
            </a:r>
          </a:p>
          <a:p>
            <a:endParaRPr lang="en-US" sz="1400" dirty="0">
              <a:solidFill>
                <a:srgbClr val="3B9BC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599009" y="1486466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35616" y="2694490"/>
            <a:ext cx="2620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Indústria</a:t>
            </a:r>
            <a:r>
              <a:rPr lang="en-US" sz="1600" b="1" dirty="0" smtClean="0">
                <a:solidFill>
                  <a:srgbClr val="3B9BC1"/>
                </a:solidFill>
              </a:rPr>
              <a:t> </a:t>
            </a:r>
            <a:r>
              <a:rPr lang="en-US" sz="1600" b="1" dirty="0" err="1" smtClean="0">
                <a:solidFill>
                  <a:srgbClr val="3B9BC1"/>
                </a:solidFill>
              </a:rPr>
              <a:t>automotiva</a:t>
            </a:r>
            <a:endParaRPr lang="en-US" sz="2000" b="1" dirty="0">
              <a:solidFill>
                <a:srgbClr val="3B9BC1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3563888" y="3022292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34843" y="3027884"/>
            <a:ext cx="52503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3B9BC1"/>
                </a:solidFill>
              </a:rPr>
              <a:t>É </a:t>
            </a:r>
            <a:r>
              <a:rPr lang="en-US" sz="1400" dirty="0" err="1" smtClean="0">
                <a:solidFill>
                  <a:srgbClr val="3B9BC1"/>
                </a:solidFill>
              </a:rPr>
              <a:t>uma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indústria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em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crescimento</a:t>
            </a:r>
            <a:r>
              <a:rPr lang="en-US" sz="1400" dirty="0" smtClean="0">
                <a:solidFill>
                  <a:srgbClr val="3B9BC1"/>
                </a:solidFill>
              </a:rPr>
              <a:t> que tem </a:t>
            </a:r>
            <a:r>
              <a:rPr lang="en-US" sz="1400" dirty="0" err="1" smtClean="0">
                <a:solidFill>
                  <a:srgbClr val="3B9BC1"/>
                </a:solidFill>
              </a:rPr>
              <a:t>na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Altran</a:t>
            </a:r>
            <a:r>
              <a:rPr lang="en-US" sz="1400" dirty="0" smtClean="0">
                <a:solidFill>
                  <a:srgbClr val="3B9BC1"/>
                </a:solidFill>
              </a:rPr>
              <a:t> um dos </a:t>
            </a:r>
            <a:r>
              <a:rPr lang="en-US" sz="1400" dirty="0" err="1" smtClean="0">
                <a:solidFill>
                  <a:srgbClr val="3B9BC1"/>
                </a:solidFill>
              </a:rPr>
              <a:t>seus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principais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parceiros</a:t>
            </a:r>
            <a:r>
              <a:rPr lang="en-US" sz="1400" dirty="0" smtClean="0">
                <a:solidFill>
                  <a:srgbClr val="3B9BC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 smtClean="0">
                <a:solidFill>
                  <a:srgbClr val="3B9BC1"/>
                </a:solidFill>
              </a:rPr>
              <a:t>Os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projetos</a:t>
            </a:r>
            <a:r>
              <a:rPr lang="en-US" sz="1400" dirty="0" smtClean="0">
                <a:solidFill>
                  <a:srgbClr val="3B9BC1"/>
                </a:solidFill>
              </a:rPr>
              <a:t> da </a:t>
            </a:r>
            <a:r>
              <a:rPr lang="en-US" sz="1400" dirty="0" err="1" smtClean="0">
                <a:solidFill>
                  <a:srgbClr val="3B9BC1"/>
                </a:solidFill>
              </a:rPr>
              <a:t>Altran</a:t>
            </a:r>
            <a:r>
              <a:rPr lang="en-US" sz="1400" dirty="0" smtClean="0">
                <a:solidFill>
                  <a:srgbClr val="3B9BC1"/>
                </a:solidFill>
              </a:rPr>
              <a:t> com </a:t>
            </a:r>
            <a:r>
              <a:rPr lang="en-US" sz="1400" dirty="0" err="1" smtClean="0">
                <a:solidFill>
                  <a:srgbClr val="3B9BC1"/>
                </a:solidFill>
              </a:rPr>
              <a:t>clientes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desta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indústria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são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desafiantes</a:t>
            </a:r>
            <a:r>
              <a:rPr lang="en-US" sz="1400" dirty="0" smtClean="0">
                <a:solidFill>
                  <a:srgbClr val="3B9BC1"/>
                </a:solidFill>
              </a:rPr>
              <a:t>, </a:t>
            </a:r>
            <a:r>
              <a:rPr lang="en-US" sz="1400" dirty="0" err="1" smtClean="0">
                <a:solidFill>
                  <a:srgbClr val="3B9BC1"/>
                </a:solidFill>
              </a:rPr>
              <a:t>motivadores</a:t>
            </a:r>
            <a:r>
              <a:rPr lang="en-US" sz="1400" dirty="0" smtClean="0">
                <a:solidFill>
                  <a:srgbClr val="3B9BC1"/>
                </a:solidFill>
              </a:rPr>
              <a:t> e </a:t>
            </a:r>
            <a:r>
              <a:rPr lang="en-US" sz="1400" dirty="0" err="1" smtClean="0">
                <a:solidFill>
                  <a:srgbClr val="3B9BC1"/>
                </a:solidFill>
              </a:rPr>
              <a:t>criadores</a:t>
            </a:r>
            <a:r>
              <a:rPr lang="en-US" sz="1400" dirty="0" smtClean="0">
                <a:solidFill>
                  <a:srgbClr val="3B9BC1"/>
                </a:solidFill>
              </a:rPr>
              <a:t> de </a:t>
            </a:r>
            <a:r>
              <a:rPr lang="en-US" sz="1400" dirty="0" err="1" smtClean="0">
                <a:solidFill>
                  <a:srgbClr val="3B9BC1"/>
                </a:solidFill>
              </a:rPr>
              <a:t>oportunidades</a:t>
            </a:r>
            <a:r>
              <a:rPr lang="en-US" sz="1400" dirty="0" smtClean="0">
                <a:solidFill>
                  <a:srgbClr val="3B9BC1"/>
                </a:solidFill>
              </a:rPr>
              <a:t> de </a:t>
            </a:r>
            <a:r>
              <a:rPr lang="en-US" sz="1400" dirty="0" err="1" smtClean="0">
                <a:solidFill>
                  <a:srgbClr val="3B9BC1"/>
                </a:solidFill>
              </a:rPr>
              <a:t>carreira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na</a:t>
            </a:r>
            <a:r>
              <a:rPr lang="en-US" sz="1400" dirty="0" smtClean="0">
                <a:solidFill>
                  <a:srgbClr val="3B9BC1"/>
                </a:solidFill>
              </a:rPr>
              <a:t> </a:t>
            </a:r>
            <a:r>
              <a:rPr lang="en-US" sz="1400" dirty="0" err="1" smtClean="0">
                <a:solidFill>
                  <a:srgbClr val="3B9BC1"/>
                </a:solidFill>
              </a:rPr>
              <a:t>empresa</a:t>
            </a:r>
            <a:r>
              <a:rPr lang="en-US" sz="1400" dirty="0" smtClean="0">
                <a:solidFill>
                  <a:srgbClr val="3B9BC1"/>
                </a:solidFill>
              </a:rPr>
              <a:t>.</a:t>
            </a:r>
          </a:p>
          <a:p>
            <a:endParaRPr lang="en-US" sz="1400" dirty="0">
              <a:solidFill>
                <a:srgbClr val="3B9B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30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2.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smtClean="0"/>
              <a:t>Date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Presentation title</a:t>
            </a:r>
            <a:endParaRPr lang="fr-FR" noProof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noProof="0" smtClean="0"/>
              <a:pPr/>
              <a:t>5</a:t>
            </a:fld>
            <a:endParaRPr lang="fr-FR" noProof="0"/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smtClean="0"/>
              <a:t>O </a:t>
            </a:r>
            <a:r>
              <a:rPr lang="fr-FR" dirty="0" err="1" smtClean="0"/>
              <a:t>Desafio</a:t>
            </a:r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881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2.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561" y="2003199"/>
            <a:ext cx="1583394" cy="890013"/>
          </a:xfrm>
          <a:prstGeom prst="rect">
            <a:avLst/>
          </a:prstGeom>
          <a:ln w="38100">
            <a:solidFill>
              <a:srgbClr val="3B9BC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321" y="1303228"/>
            <a:ext cx="1339489" cy="750114"/>
          </a:xfrm>
          <a:prstGeom prst="rect">
            <a:avLst/>
          </a:prstGeom>
          <a:ln w="28575">
            <a:solidFill>
              <a:srgbClr val="3B9BC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719" y="1718925"/>
            <a:ext cx="1508249" cy="785647"/>
          </a:xfrm>
          <a:prstGeom prst="rect">
            <a:avLst/>
          </a:prstGeom>
          <a:ln w="28575">
            <a:solidFill>
              <a:srgbClr val="3B9BC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470743" y="843558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Restaurantes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487323" y="1198434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rved Down Arrow 12"/>
          <p:cNvSpPr/>
          <p:nvPr/>
        </p:nvSpPr>
        <p:spPr>
          <a:xfrm>
            <a:off x="2736654" y="194397"/>
            <a:ext cx="3367127" cy="571589"/>
          </a:xfrm>
          <a:prstGeom prst="curvedDownArrow">
            <a:avLst>
              <a:gd name="adj1" fmla="val 22596"/>
              <a:gd name="adj2" fmla="val 104162"/>
              <a:gd name="adj3" fmla="val 60414"/>
            </a:avLst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102" y="1988918"/>
            <a:ext cx="1333757" cy="1333757"/>
          </a:xfrm>
          <a:prstGeom prst="rect">
            <a:avLst/>
          </a:prstGeom>
          <a:ln w="28575">
            <a:solidFill>
              <a:srgbClr val="3B9BC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293" y="1780872"/>
            <a:ext cx="1639932" cy="1093288"/>
          </a:xfrm>
          <a:prstGeom prst="rect">
            <a:avLst/>
          </a:prstGeom>
          <a:ln w="28575">
            <a:solidFill>
              <a:srgbClr val="3B9BC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135" y="1549481"/>
            <a:ext cx="1098496" cy="822812"/>
          </a:xfrm>
          <a:prstGeom prst="rect">
            <a:avLst/>
          </a:prstGeom>
          <a:ln w="28575">
            <a:solidFill>
              <a:srgbClr val="3B9BC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548" y="964694"/>
            <a:ext cx="973641" cy="729291"/>
          </a:xfrm>
          <a:prstGeom prst="rect">
            <a:avLst/>
          </a:prstGeom>
          <a:ln w="28575">
            <a:solidFill>
              <a:srgbClr val="3B9BC1"/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551" y="1050374"/>
            <a:ext cx="1073182" cy="1073182"/>
          </a:xfrm>
          <a:prstGeom prst="rect">
            <a:avLst/>
          </a:prstGeom>
          <a:ln w="28575">
            <a:solidFill>
              <a:srgbClr val="3B9BC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264591" y="453164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3B9BC1"/>
                </a:solidFill>
              </a:rPr>
              <a:t>Menus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6281171" y="808040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rved Down Arrow 26"/>
          <p:cNvSpPr/>
          <p:nvPr/>
        </p:nvSpPr>
        <p:spPr>
          <a:xfrm rot="4877259" flipH="1" flipV="1">
            <a:off x="-88652" y="2719756"/>
            <a:ext cx="2591093" cy="740945"/>
          </a:xfrm>
          <a:prstGeom prst="curvedDownArrow">
            <a:avLst>
              <a:gd name="adj1" fmla="val 27994"/>
              <a:gd name="adj2" fmla="val 104162"/>
              <a:gd name="adj3" fmla="val 60414"/>
            </a:avLst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54342" y="3194334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Viaturas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2270922" y="3549210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035" y="3657215"/>
            <a:ext cx="1489248" cy="948667"/>
          </a:xfrm>
          <a:prstGeom prst="rect">
            <a:avLst/>
          </a:prstGeom>
          <a:ln w="38100">
            <a:solidFill>
              <a:srgbClr val="3B9BC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955" y="3736047"/>
            <a:ext cx="1411797" cy="811447"/>
          </a:xfrm>
          <a:prstGeom prst="rect">
            <a:avLst/>
          </a:prstGeom>
          <a:ln w="38100">
            <a:solidFill>
              <a:srgbClr val="3B9BC1"/>
            </a:solidFill>
          </a:ln>
        </p:spPr>
      </p:pic>
      <p:sp>
        <p:nvSpPr>
          <p:cNvPr id="35" name="Curved Down Arrow 34"/>
          <p:cNvSpPr/>
          <p:nvPr/>
        </p:nvSpPr>
        <p:spPr>
          <a:xfrm rot="18887123" flipH="1" flipV="1">
            <a:off x="5365832" y="3788630"/>
            <a:ext cx="2409803" cy="589509"/>
          </a:xfrm>
          <a:prstGeom prst="curvedDownArrow">
            <a:avLst>
              <a:gd name="adj1" fmla="val 27994"/>
              <a:gd name="adj2" fmla="val 104162"/>
              <a:gd name="adj3" fmla="val 60414"/>
            </a:avLst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26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 animBg="1"/>
      <p:bldP spid="25" grpId="0"/>
      <p:bldP spid="27" grpId="0" animBg="1"/>
      <p:bldP spid="28" grpId="0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/>
          <p:cNvSpPr txBox="1"/>
          <p:nvPr/>
        </p:nvSpPr>
        <p:spPr>
          <a:xfrm>
            <a:off x="269515" y="2287278"/>
            <a:ext cx="144222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3B9BC1"/>
                </a:solidFill>
              </a:rPr>
              <a:t>4. </a:t>
            </a:r>
            <a:r>
              <a:rPr lang="en-US" sz="1050" dirty="0" err="1" smtClean="0">
                <a:solidFill>
                  <a:srgbClr val="3B9BC1"/>
                </a:solidFill>
              </a:rPr>
              <a:t>Escolhe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restaurante</a:t>
            </a:r>
            <a:r>
              <a:rPr lang="en-US" sz="1050" dirty="0" smtClean="0">
                <a:solidFill>
                  <a:srgbClr val="3B9BC1"/>
                </a:solidFill>
              </a:rPr>
              <a:t> e menu a </a:t>
            </a:r>
            <a:r>
              <a:rPr lang="en-US" sz="1050" dirty="0" err="1" smtClean="0">
                <a:solidFill>
                  <a:srgbClr val="3B9BC1"/>
                </a:solidFill>
              </a:rPr>
              <a:t>encomendar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endParaRPr lang="en-US" sz="1050" dirty="0">
              <a:solidFill>
                <a:srgbClr val="3B9BC1"/>
              </a:solidFill>
            </a:endParaRP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17" name="TextBox 16"/>
          <p:cNvSpPr txBox="1"/>
          <p:nvPr/>
        </p:nvSpPr>
        <p:spPr>
          <a:xfrm>
            <a:off x="1222872" y="1160766"/>
            <a:ext cx="1008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>
                <a:solidFill>
                  <a:srgbClr val="3B9BC1"/>
                </a:solidFill>
              </a:rPr>
              <a:t>Viaturas</a:t>
            </a:r>
            <a:endParaRPr lang="en-US" sz="1600" b="1" dirty="0">
              <a:solidFill>
                <a:srgbClr val="3B9BC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268100" y="1491630"/>
            <a:ext cx="8336348" cy="24012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91408" y="1160764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>
                <a:solidFill>
                  <a:srgbClr val="3B9BC1"/>
                </a:solidFill>
              </a:rPr>
              <a:t>Restaurantes</a:t>
            </a:r>
            <a:endParaRPr lang="en-US" sz="1600" b="1" dirty="0">
              <a:solidFill>
                <a:srgbClr val="3B9BC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32240" y="116076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>
                <a:solidFill>
                  <a:srgbClr val="3B9BC1"/>
                </a:solidFill>
              </a:rPr>
              <a:t>Gestão</a:t>
            </a:r>
            <a:endParaRPr lang="en-US" sz="1600" b="1" dirty="0">
              <a:solidFill>
                <a:srgbClr val="3B9BC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2779618" y="987575"/>
            <a:ext cx="7306" cy="388843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5766227" y="987575"/>
            <a:ext cx="14785" cy="381620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3" idx="6"/>
          </p:cNvCxnSpPr>
          <p:nvPr/>
        </p:nvCxnSpPr>
        <p:spPr>
          <a:xfrm>
            <a:off x="1722498" y="1923678"/>
            <a:ext cx="2561470" cy="0"/>
          </a:xfrm>
          <a:prstGeom prst="straightConnector1">
            <a:avLst/>
          </a:prstGeom>
          <a:ln w="12700">
            <a:solidFill>
              <a:srgbClr val="3B9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283968" y="1707654"/>
            <a:ext cx="0" cy="3168352"/>
          </a:xfrm>
          <a:prstGeom prst="line">
            <a:avLst/>
          </a:prstGeom>
          <a:ln w="28575">
            <a:solidFill>
              <a:srgbClr val="3B9BC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539410" y="1822817"/>
            <a:ext cx="183088" cy="201722"/>
          </a:xfrm>
          <a:prstGeom prst="ellipse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790401" y="1654140"/>
            <a:ext cx="2425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rgbClr val="3B9BC1"/>
                </a:solidFill>
              </a:rPr>
              <a:t>1. </a:t>
            </a:r>
            <a:r>
              <a:rPr lang="en-US" sz="1050" dirty="0" err="1" smtClean="0">
                <a:solidFill>
                  <a:srgbClr val="3B9BC1"/>
                </a:solidFill>
              </a:rPr>
              <a:t>Viatura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obtém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lista</a:t>
            </a:r>
            <a:r>
              <a:rPr lang="en-US" sz="1050" dirty="0" smtClean="0">
                <a:solidFill>
                  <a:srgbClr val="3B9BC1"/>
                </a:solidFill>
              </a:rPr>
              <a:t> de </a:t>
            </a:r>
            <a:r>
              <a:rPr lang="en-US" sz="1050" dirty="0" err="1" smtClean="0">
                <a:solidFill>
                  <a:srgbClr val="3B9BC1"/>
                </a:solidFill>
              </a:rPr>
              <a:t>restaurantes</a:t>
            </a:r>
            <a:endParaRPr lang="en-US" sz="1050" dirty="0">
              <a:solidFill>
                <a:srgbClr val="3B9BC1"/>
              </a:solidFill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4283968" y="2067694"/>
            <a:ext cx="648072" cy="0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932040" y="2067694"/>
            <a:ext cx="0" cy="428286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413637" y="1646518"/>
            <a:ext cx="16005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3B9BC1"/>
                </a:solidFill>
              </a:rPr>
              <a:t>2. </a:t>
            </a:r>
            <a:r>
              <a:rPr lang="en-US" sz="1050" dirty="0" err="1" smtClean="0">
                <a:solidFill>
                  <a:srgbClr val="3B9BC1"/>
                </a:solidFill>
              </a:rPr>
              <a:t>Obtem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lista</a:t>
            </a:r>
            <a:r>
              <a:rPr lang="en-US" sz="1050" dirty="0" smtClean="0">
                <a:solidFill>
                  <a:srgbClr val="3B9BC1"/>
                </a:solidFill>
              </a:rPr>
              <a:t> de </a:t>
            </a:r>
            <a:r>
              <a:rPr lang="en-US" sz="1050" dirty="0" err="1" smtClean="0">
                <a:solidFill>
                  <a:srgbClr val="3B9BC1"/>
                </a:solidFill>
              </a:rPr>
              <a:t>restaurantes</a:t>
            </a:r>
            <a:r>
              <a:rPr lang="en-US" sz="1050" dirty="0" smtClean="0">
                <a:solidFill>
                  <a:srgbClr val="3B9BC1"/>
                </a:solidFill>
              </a:rPr>
              <a:t> e menus</a:t>
            </a:r>
            <a:endParaRPr lang="en-US" sz="1050" dirty="0">
              <a:solidFill>
                <a:srgbClr val="3B9BC1"/>
              </a:solidFill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4283968" y="2499742"/>
            <a:ext cx="648072" cy="0"/>
          </a:xfrm>
          <a:prstGeom prst="straightConnector1">
            <a:avLst/>
          </a:prstGeom>
          <a:ln w="12700">
            <a:solidFill>
              <a:srgbClr val="3B9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1629271" y="2713655"/>
            <a:ext cx="2654699" cy="4009"/>
          </a:xfrm>
          <a:prstGeom prst="straightConnector1">
            <a:avLst/>
          </a:prstGeom>
          <a:ln w="12700">
            <a:solidFill>
              <a:srgbClr val="3B9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786923" y="2294640"/>
            <a:ext cx="1616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3B9BC1"/>
                </a:solidFill>
              </a:rPr>
              <a:t>3. Devolve </a:t>
            </a:r>
            <a:r>
              <a:rPr lang="en-US" sz="1050" dirty="0" err="1" smtClean="0">
                <a:solidFill>
                  <a:srgbClr val="3B9BC1"/>
                </a:solidFill>
              </a:rPr>
              <a:t>listas</a:t>
            </a:r>
            <a:r>
              <a:rPr lang="en-US" sz="1050" dirty="0" smtClean="0">
                <a:solidFill>
                  <a:srgbClr val="3B9BC1"/>
                </a:solidFill>
              </a:rPr>
              <a:t> com </a:t>
            </a:r>
            <a:r>
              <a:rPr lang="en-US" sz="1050" dirty="0" err="1" smtClean="0">
                <a:solidFill>
                  <a:srgbClr val="3B9BC1"/>
                </a:solidFill>
              </a:rPr>
              <a:t>informação</a:t>
            </a:r>
            <a:endParaRPr lang="en-US" sz="1050" dirty="0">
              <a:solidFill>
                <a:srgbClr val="3B9BC1"/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 flipH="1">
            <a:off x="1608115" y="2545833"/>
            <a:ext cx="11078" cy="2330173"/>
          </a:xfrm>
          <a:prstGeom prst="line">
            <a:avLst/>
          </a:prstGeom>
          <a:ln w="28575">
            <a:solidFill>
              <a:srgbClr val="3B9BC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971600" y="2859782"/>
            <a:ext cx="648072" cy="0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971600" y="2858426"/>
            <a:ext cx="0" cy="428286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971600" y="3286712"/>
            <a:ext cx="636515" cy="9846"/>
          </a:xfrm>
          <a:prstGeom prst="straightConnector1">
            <a:avLst/>
          </a:prstGeom>
          <a:ln w="12700">
            <a:solidFill>
              <a:srgbClr val="3B9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7092280" y="1646518"/>
            <a:ext cx="21156" cy="3157257"/>
          </a:xfrm>
          <a:prstGeom prst="line">
            <a:avLst/>
          </a:prstGeom>
          <a:ln w="28575">
            <a:solidFill>
              <a:srgbClr val="3B9BC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1618808" y="3420223"/>
            <a:ext cx="5473472" cy="15623"/>
          </a:xfrm>
          <a:prstGeom prst="straightConnector1">
            <a:avLst/>
          </a:prstGeom>
          <a:ln w="12700">
            <a:solidFill>
              <a:srgbClr val="3B9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715090" y="3168226"/>
            <a:ext cx="18607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3B9BC1"/>
                </a:solidFill>
              </a:rPr>
              <a:t>5. </a:t>
            </a:r>
            <a:r>
              <a:rPr lang="en-US" sz="1050" dirty="0" err="1" smtClean="0">
                <a:solidFill>
                  <a:srgbClr val="3B9BC1"/>
                </a:solidFill>
              </a:rPr>
              <a:t>Regista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encomenda</a:t>
            </a:r>
            <a:endParaRPr lang="en-US" sz="1050" dirty="0">
              <a:solidFill>
                <a:srgbClr val="3B9BC1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7113436" y="3496982"/>
            <a:ext cx="648072" cy="0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7761508" y="3496982"/>
            <a:ext cx="0" cy="428286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243104" y="3075806"/>
            <a:ext cx="1721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3B9BC1"/>
                </a:solidFill>
              </a:rPr>
              <a:t>6. </a:t>
            </a:r>
            <a:r>
              <a:rPr lang="en-US" sz="1050" dirty="0" err="1" smtClean="0">
                <a:solidFill>
                  <a:srgbClr val="3B9BC1"/>
                </a:solidFill>
              </a:rPr>
              <a:t>Conclui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encomenda</a:t>
            </a:r>
            <a:r>
              <a:rPr lang="en-US" sz="1050" dirty="0" smtClean="0">
                <a:solidFill>
                  <a:srgbClr val="3B9BC1"/>
                </a:solidFill>
              </a:rPr>
              <a:t>, </a:t>
            </a:r>
            <a:r>
              <a:rPr lang="en-US" sz="1050" dirty="0" err="1" smtClean="0">
                <a:solidFill>
                  <a:srgbClr val="3B9BC1"/>
                </a:solidFill>
              </a:rPr>
              <a:t>caso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não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seja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cancelada</a:t>
            </a:r>
            <a:endParaRPr lang="en-US" sz="1050" dirty="0">
              <a:solidFill>
                <a:srgbClr val="3B9BC1"/>
              </a:solidFill>
            </a:endParaRPr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7113436" y="3929030"/>
            <a:ext cx="648072" cy="0"/>
          </a:xfrm>
          <a:prstGeom prst="straightConnector1">
            <a:avLst/>
          </a:prstGeom>
          <a:ln w="12700">
            <a:solidFill>
              <a:srgbClr val="3B9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7123326" y="4278845"/>
            <a:ext cx="648072" cy="0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7771398" y="4278845"/>
            <a:ext cx="0" cy="428286"/>
          </a:xfrm>
          <a:prstGeom prst="line">
            <a:avLst/>
          </a:prstGeom>
          <a:ln w="1270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243103" y="3893349"/>
            <a:ext cx="1721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3B9BC1"/>
                </a:solidFill>
              </a:rPr>
              <a:t>7. </a:t>
            </a:r>
            <a:r>
              <a:rPr lang="en-US" sz="1050" dirty="0" err="1" smtClean="0">
                <a:solidFill>
                  <a:srgbClr val="3B9BC1"/>
                </a:solidFill>
              </a:rPr>
              <a:t>Produz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relatórios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sobre</a:t>
            </a:r>
            <a:r>
              <a:rPr lang="en-US" sz="1050" dirty="0" smtClean="0">
                <a:solidFill>
                  <a:srgbClr val="3B9BC1"/>
                </a:solidFill>
              </a:rPr>
              <a:t> </a:t>
            </a:r>
            <a:r>
              <a:rPr lang="en-US" sz="1050" dirty="0" err="1" smtClean="0">
                <a:solidFill>
                  <a:srgbClr val="3B9BC1"/>
                </a:solidFill>
              </a:rPr>
              <a:t>encomendas</a:t>
            </a:r>
            <a:endParaRPr lang="en-US" sz="1050" dirty="0">
              <a:solidFill>
                <a:srgbClr val="3B9BC1"/>
              </a:solidFill>
            </a:endParaRPr>
          </a:p>
        </p:txBody>
      </p:sp>
      <p:cxnSp>
        <p:nvCxnSpPr>
          <p:cNvPr id="93" name="Straight Arrow Connector 92"/>
          <p:cNvCxnSpPr/>
          <p:nvPr/>
        </p:nvCxnSpPr>
        <p:spPr>
          <a:xfrm flipH="1">
            <a:off x="7123326" y="4710893"/>
            <a:ext cx="648072" cy="0"/>
          </a:xfrm>
          <a:prstGeom prst="straightConnector1">
            <a:avLst/>
          </a:prstGeom>
          <a:ln w="12700">
            <a:solidFill>
              <a:srgbClr val="3B9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46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43" grpId="0" animBg="1"/>
      <p:bldP spid="51" grpId="0"/>
      <p:bldP spid="60" grpId="0"/>
      <p:bldP spid="62" grpId="0"/>
      <p:bldP spid="80" grpId="0"/>
      <p:bldP spid="83" grpId="0"/>
      <p:bldP spid="9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39" name="TextBox 38"/>
          <p:cNvSpPr txBox="1"/>
          <p:nvPr/>
        </p:nvSpPr>
        <p:spPr>
          <a:xfrm>
            <a:off x="323528" y="1021381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Viaturas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340108" y="1359935"/>
            <a:ext cx="8048316" cy="16322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2771800" y="987576"/>
            <a:ext cx="15124" cy="3564394"/>
          </a:xfrm>
          <a:prstGeom prst="line">
            <a:avLst/>
          </a:prstGeom>
          <a:ln w="19050">
            <a:solidFill>
              <a:srgbClr val="FFC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9647" y="1513822"/>
            <a:ext cx="2340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1200" dirty="0" smtClean="0">
                <a:solidFill>
                  <a:srgbClr val="3B9BC1"/>
                </a:solidFill>
              </a:rPr>
              <a:t>Uma interface, </a:t>
            </a:r>
            <a:r>
              <a:rPr lang="en-US" sz="1200" dirty="0" err="1" smtClean="0">
                <a:solidFill>
                  <a:srgbClr val="3B9BC1"/>
                </a:solidFill>
              </a:rPr>
              <a:t>chamada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b="1" dirty="0" smtClean="0">
                <a:solidFill>
                  <a:srgbClr val="3B9BC1"/>
                </a:solidFill>
              </a:rPr>
              <a:t>FRONTEND </a:t>
            </a:r>
            <a:r>
              <a:rPr lang="en-US" sz="1200" dirty="0" smtClean="0">
                <a:solidFill>
                  <a:srgbClr val="3B9BC1"/>
                </a:solidFill>
              </a:rPr>
              <a:t>e </a:t>
            </a:r>
            <a:r>
              <a:rPr lang="en-US" sz="1200" dirty="0" err="1" smtClean="0">
                <a:solidFill>
                  <a:srgbClr val="3B9BC1"/>
                </a:solidFill>
              </a:rPr>
              <a:t>representa</a:t>
            </a:r>
            <a:r>
              <a:rPr lang="en-US" sz="1200" dirty="0" smtClean="0">
                <a:solidFill>
                  <a:srgbClr val="3B9BC1"/>
                </a:solidFill>
              </a:rPr>
              <a:t> o </a:t>
            </a:r>
            <a:r>
              <a:rPr lang="en-US" sz="1200" dirty="0" err="1" smtClean="0">
                <a:solidFill>
                  <a:srgbClr val="3B9BC1"/>
                </a:solidFill>
              </a:rPr>
              <a:t>cliente</a:t>
            </a:r>
            <a:endParaRPr lang="en-US" sz="1200" b="1" dirty="0" smtClean="0">
              <a:solidFill>
                <a:srgbClr val="3B9BC1"/>
              </a:solidFill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Permite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obter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lista</a:t>
            </a:r>
            <a:r>
              <a:rPr lang="en-US" sz="1200" dirty="0" smtClean="0">
                <a:solidFill>
                  <a:srgbClr val="3B9BC1"/>
                </a:solidFill>
              </a:rPr>
              <a:t> de </a:t>
            </a:r>
            <a:r>
              <a:rPr lang="en-US" sz="1200" dirty="0" err="1" smtClean="0">
                <a:solidFill>
                  <a:srgbClr val="3B9BC1"/>
                </a:solidFill>
              </a:rPr>
              <a:t>restaurantes</a:t>
            </a:r>
            <a:endParaRPr lang="en-US" sz="1200" dirty="0" smtClean="0">
              <a:solidFill>
                <a:srgbClr val="3B9BC1"/>
              </a:solidFill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Permite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obter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lista</a:t>
            </a:r>
            <a:r>
              <a:rPr lang="en-US" sz="1200" dirty="0" smtClean="0">
                <a:solidFill>
                  <a:srgbClr val="3B9BC1"/>
                </a:solidFill>
              </a:rPr>
              <a:t> de menus </a:t>
            </a:r>
            <a:r>
              <a:rPr lang="en-US" sz="1200" dirty="0" err="1" smtClean="0">
                <a:solidFill>
                  <a:srgbClr val="3B9BC1"/>
                </a:solidFill>
              </a:rPr>
              <a:t>por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restaurante</a:t>
            </a:r>
            <a:endParaRPr lang="en-US" sz="1200" dirty="0" smtClean="0">
              <a:solidFill>
                <a:srgbClr val="3B9BC1"/>
              </a:solidFill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Permite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criar</a:t>
            </a:r>
            <a:r>
              <a:rPr lang="en-US" sz="1200" dirty="0" smtClean="0">
                <a:solidFill>
                  <a:srgbClr val="3B9BC1"/>
                </a:solidFill>
              </a:rPr>
              <a:t>, </a:t>
            </a:r>
            <a:r>
              <a:rPr lang="en-US" sz="1200" dirty="0" err="1" smtClean="0">
                <a:solidFill>
                  <a:srgbClr val="3B9BC1"/>
                </a:solidFill>
              </a:rPr>
              <a:t>consultar</a:t>
            </a:r>
            <a:r>
              <a:rPr lang="en-US" sz="1200" dirty="0" smtClean="0">
                <a:solidFill>
                  <a:srgbClr val="3B9BC1"/>
                </a:solidFill>
              </a:rPr>
              <a:t> e </a:t>
            </a:r>
            <a:r>
              <a:rPr lang="en-US" sz="1200" dirty="0" err="1" smtClean="0">
                <a:solidFill>
                  <a:srgbClr val="3B9BC1"/>
                </a:solidFill>
              </a:rPr>
              <a:t>cancelar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encomendas</a:t>
            </a:r>
            <a:endParaRPr lang="en-US" sz="1200" dirty="0" smtClean="0">
              <a:solidFill>
                <a:srgbClr val="3B9BC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8776" y="3662209"/>
            <a:ext cx="234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 err="1">
                <a:solidFill>
                  <a:srgbClr val="3B9BC1"/>
                </a:solidFill>
              </a:rPr>
              <a:t>Construída</a:t>
            </a:r>
            <a:r>
              <a:rPr lang="en-US" sz="1200" dirty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sobre</a:t>
            </a:r>
            <a:r>
              <a:rPr lang="en-US" sz="1200" dirty="0" smtClean="0">
                <a:solidFill>
                  <a:srgbClr val="3B9BC1"/>
                </a:solidFill>
              </a:rPr>
              <a:t>:</a:t>
            </a:r>
          </a:p>
          <a:p>
            <a:pPr algn="just"/>
            <a:r>
              <a:rPr lang="en-US" sz="1200" dirty="0" err="1" smtClean="0">
                <a:solidFill>
                  <a:srgbClr val="3B9BC1"/>
                </a:solidFill>
              </a:rPr>
              <a:t>Hipótese</a:t>
            </a:r>
            <a:r>
              <a:rPr lang="en-US" sz="1200" dirty="0" smtClean="0">
                <a:solidFill>
                  <a:srgbClr val="3B9BC1"/>
                </a:solidFill>
              </a:rPr>
              <a:t> 1) Angular+ </a:t>
            </a:r>
            <a:r>
              <a:rPr lang="en-US" sz="1200" dirty="0">
                <a:solidFill>
                  <a:srgbClr val="3B9BC1"/>
                </a:solidFill>
              </a:rPr>
              <a:t>e </a:t>
            </a:r>
            <a:r>
              <a:rPr lang="en-US" sz="1200" dirty="0" err="1">
                <a:solidFill>
                  <a:srgbClr val="3B9BC1"/>
                </a:solidFill>
              </a:rPr>
              <a:t>usando</a:t>
            </a:r>
            <a:r>
              <a:rPr lang="en-US" sz="1200" dirty="0">
                <a:solidFill>
                  <a:srgbClr val="3B9BC1"/>
                </a:solidFill>
              </a:rPr>
              <a:t> </a:t>
            </a:r>
            <a:r>
              <a:rPr lang="en-US" sz="1200" dirty="0" err="1">
                <a:solidFill>
                  <a:srgbClr val="3B9BC1"/>
                </a:solidFill>
              </a:rPr>
              <a:t>uma</a:t>
            </a:r>
            <a:r>
              <a:rPr lang="en-US" sz="1200" dirty="0">
                <a:solidFill>
                  <a:srgbClr val="3B9BC1"/>
                </a:solidFill>
              </a:rPr>
              <a:t> framework </a:t>
            </a:r>
            <a:r>
              <a:rPr lang="en-US" sz="1200" dirty="0" err="1" smtClean="0">
                <a:solidFill>
                  <a:srgbClr val="3B9BC1"/>
                </a:solidFill>
              </a:rPr>
              <a:t>específica</a:t>
            </a:r>
            <a:endParaRPr lang="en-US" sz="1200" dirty="0" smtClean="0">
              <a:solidFill>
                <a:srgbClr val="3B9BC1"/>
              </a:solidFill>
            </a:endParaRPr>
          </a:p>
          <a:p>
            <a:pPr algn="just"/>
            <a:r>
              <a:rPr lang="en-US" sz="1200" dirty="0" err="1" smtClean="0">
                <a:solidFill>
                  <a:srgbClr val="3B9BC1"/>
                </a:solidFill>
              </a:rPr>
              <a:t>Hipótese</a:t>
            </a:r>
            <a:r>
              <a:rPr lang="en-US" sz="1200" dirty="0" smtClean="0">
                <a:solidFill>
                  <a:srgbClr val="3B9BC1"/>
                </a:solidFill>
              </a:rPr>
              <a:t> 2) Android</a:t>
            </a:r>
            <a:endParaRPr lang="en-US" sz="1200" dirty="0">
              <a:solidFill>
                <a:srgbClr val="3B9BC1"/>
              </a:solidFill>
            </a:endParaRPr>
          </a:p>
          <a:p>
            <a:pPr algn="just"/>
            <a:endParaRPr 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2910254" y="1021381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Restaurantes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5636996" y="987576"/>
            <a:ext cx="15124" cy="3564394"/>
          </a:xfrm>
          <a:prstGeom prst="line">
            <a:avLst/>
          </a:prstGeom>
          <a:ln w="19050">
            <a:solidFill>
              <a:srgbClr val="FFC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801227" y="1514163"/>
            <a:ext cx="27208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Conjunto</a:t>
            </a:r>
            <a:r>
              <a:rPr lang="en-US" sz="1200" dirty="0" smtClean="0">
                <a:solidFill>
                  <a:srgbClr val="3B9BC1"/>
                </a:solidFill>
              </a:rPr>
              <a:t> de </a:t>
            </a:r>
            <a:r>
              <a:rPr lang="en-US" sz="1200" dirty="0" err="1" smtClean="0">
                <a:solidFill>
                  <a:srgbClr val="3B9BC1"/>
                </a:solidFill>
              </a:rPr>
              <a:t>serviços</a:t>
            </a:r>
            <a:r>
              <a:rPr lang="en-US" sz="1200" dirty="0" smtClean="0">
                <a:solidFill>
                  <a:srgbClr val="3B9BC1"/>
                </a:solidFill>
              </a:rPr>
              <a:t>, </a:t>
            </a:r>
            <a:r>
              <a:rPr lang="en-US" sz="1200" dirty="0" err="1" smtClean="0">
                <a:solidFill>
                  <a:srgbClr val="3B9BC1"/>
                </a:solidFill>
              </a:rPr>
              <a:t>chamados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b="1" dirty="0" smtClean="0">
                <a:solidFill>
                  <a:srgbClr val="3B9BC1"/>
                </a:solidFill>
              </a:rPr>
              <a:t>BACKEND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Garante</a:t>
            </a:r>
            <a:r>
              <a:rPr lang="en-US" sz="1200" dirty="0" smtClean="0">
                <a:solidFill>
                  <a:srgbClr val="3B9BC1"/>
                </a:solidFill>
              </a:rPr>
              <a:t> que </a:t>
            </a:r>
            <a:r>
              <a:rPr lang="en-US" sz="1200" dirty="0" err="1" smtClean="0">
                <a:solidFill>
                  <a:srgbClr val="3B9BC1"/>
                </a:solidFill>
              </a:rPr>
              <a:t>os</a:t>
            </a:r>
            <a:r>
              <a:rPr lang="en-US" sz="1200" dirty="0" smtClean="0">
                <a:solidFill>
                  <a:srgbClr val="3B9BC1"/>
                </a:solidFill>
              </a:rPr>
              <a:t> dados </a:t>
            </a:r>
            <a:r>
              <a:rPr lang="en-US" sz="1200" dirty="0" err="1" smtClean="0">
                <a:solidFill>
                  <a:srgbClr val="3B9BC1"/>
                </a:solidFill>
              </a:rPr>
              <a:t>são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guardados</a:t>
            </a:r>
            <a:r>
              <a:rPr lang="en-US" sz="1200" dirty="0" smtClean="0">
                <a:solidFill>
                  <a:srgbClr val="3B9BC1"/>
                </a:solidFill>
              </a:rPr>
              <a:t> no disco (BD)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Converte</a:t>
            </a:r>
            <a:r>
              <a:rPr lang="en-US" sz="1200" dirty="0" smtClean="0">
                <a:solidFill>
                  <a:srgbClr val="3B9BC1"/>
                </a:solidFill>
              </a:rPr>
              <a:t> 2 </a:t>
            </a:r>
            <a:r>
              <a:rPr lang="en-US" sz="1200" dirty="0" err="1" smtClean="0">
                <a:solidFill>
                  <a:srgbClr val="3B9BC1"/>
                </a:solidFill>
              </a:rPr>
              <a:t>coordenadas</a:t>
            </a:r>
            <a:r>
              <a:rPr lang="en-US" sz="1200" dirty="0" smtClean="0">
                <a:solidFill>
                  <a:srgbClr val="3B9BC1"/>
                </a:solidFill>
              </a:rPr>
              <a:t> GPS </a:t>
            </a:r>
            <a:r>
              <a:rPr lang="en-US" sz="1200" dirty="0" err="1" smtClean="0">
                <a:solidFill>
                  <a:srgbClr val="3B9BC1"/>
                </a:solidFill>
              </a:rPr>
              <a:t>em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distância</a:t>
            </a:r>
            <a:r>
              <a:rPr lang="en-US" sz="1200" dirty="0" smtClean="0">
                <a:solidFill>
                  <a:srgbClr val="3B9BC1"/>
                </a:solidFill>
              </a:rPr>
              <a:t> (M e/</a:t>
            </a:r>
            <a:r>
              <a:rPr lang="en-US" sz="1200" dirty="0" err="1" smtClean="0">
                <a:solidFill>
                  <a:srgbClr val="3B9BC1"/>
                </a:solidFill>
              </a:rPr>
              <a:t>ou</a:t>
            </a:r>
            <a:r>
              <a:rPr lang="en-US" sz="1200" dirty="0" smtClean="0">
                <a:solidFill>
                  <a:srgbClr val="3B9BC1"/>
                </a:solidFill>
              </a:rPr>
              <a:t> KM)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Garante</a:t>
            </a:r>
            <a:r>
              <a:rPr lang="en-US" sz="1200" dirty="0" smtClean="0">
                <a:solidFill>
                  <a:srgbClr val="3B9BC1"/>
                </a:solidFill>
              </a:rPr>
              <a:t> que a </a:t>
            </a:r>
            <a:r>
              <a:rPr lang="en-US" sz="1200" dirty="0" err="1" smtClean="0">
                <a:solidFill>
                  <a:srgbClr val="3B9BC1"/>
                </a:solidFill>
              </a:rPr>
              <a:t>informação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pode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ser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alterada</a:t>
            </a:r>
            <a:r>
              <a:rPr lang="en-US" sz="1200" dirty="0" smtClean="0">
                <a:solidFill>
                  <a:srgbClr val="3B9BC1"/>
                </a:solidFill>
              </a:rPr>
              <a:t> e é o </a:t>
            </a:r>
            <a:r>
              <a:rPr lang="en-US" sz="1200" dirty="0" err="1" smtClean="0">
                <a:solidFill>
                  <a:srgbClr val="3B9BC1"/>
                </a:solidFill>
              </a:rPr>
              <a:t>único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ponto</a:t>
            </a:r>
            <a:r>
              <a:rPr lang="en-US" sz="1200" dirty="0" smtClean="0">
                <a:solidFill>
                  <a:srgbClr val="3B9BC1"/>
                </a:solidFill>
              </a:rPr>
              <a:t> de entrada para </a:t>
            </a:r>
            <a:r>
              <a:rPr lang="en-US" sz="1200" dirty="0" err="1" smtClean="0">
                <a:solidFill>
                  <a:srgbClr val="3B9BC1"/>
                </a:solidFill>
              </a:rPr>
              <a:t>essa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manipulação</a:t>
            </a:r>
            <a:endParaRPr lang="en-US" sz="1200" dirty="0" smtClean="0">
              <a:solidFill>
                <a:srgbClr val="3B9BC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71800" y="3651870"/>
            <a:ext cx="2341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 err="1" smtClean="0">
                <a:solidFill>
                  <a:srgbClr val="3B9BC1"/>
                </a:solidFill>
              </a:rPr>
              <a:t>Construídos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sobre</a:t>
            </a:r>
            <a:r>
              <a:rPr lang="en-US" sz="1200" dirty="0" smtClean="0">
                <a:solidFill>
                  <a:srgbClr val="3B9BC1"/>
                </a:solidFill>
              </a:rPr>
              <a:t> Spring Boot e </a:t>
            </a:r>
            <a:r>
              <a:rPr lang="en-US" sz="1200" dirty="0" err="1" smtClean="0">
                <a:solidFill>
                  <a:srgbClr val="3B9BC1"/>
                </a:solidFill>
              </a:rPr>
              <a:t>comunicam</a:t>
            </a:r>
            <a:r>
              <a:rPr lang="en-US" sz="1200" dirty="0" smtClean="0">
                <a:solidFill>
                  <a:srgbClr val="3B9BC1"/>
                </a:solidFill>
              </a:rPr>
              <a:t> JSON </a:t>
            </a:r>
            <a:r>
              <a:rPr lang="en-US" sz="1200" dirty="0" err="1" smtClean="0">
                <a:solidFill>
                  <a:srgbClr val="3B9BC1"/>
                </a:solidFill>
              </a:rPr>
              <a:t>sobre</a:t>
            </a:r>
            <a:r>
              <a:rPr lang="en-US" sz="1200" dirty="0" smtClean="0">
                <a:solidFill>
                  <a:srgbClr val="3B9BC1"/>
                </a:solidFill>
              </a:rPr>
              <a:t> REST</a:t>
            </a:r>
            <a:endParaRPr lang="en-US" sz="1200" dirty="0">
              <a:solidFill>
                <a:srgbClr val="3B9BC1"/>
              </a:solidFill>
            </a:endParaRPr>
          </a:p>
          <a:p>
            <a:pPr algn="just"/>
            <a:endParaRPr 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5767005" y="1021381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Gestão</a:t>
            </a:r>
            <a:endParaRPr lang="en-US" b="1" dirty="0">
              <a:solidFill>
                <a:srgbClr val="3B9BC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652120" y="3651870"/>
            <a:ext cx="234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 err="1" smtClean="0">
                <a:solidFill>
                  <a:srgbClr val="3B9BC1"/>
                </a:solidFill>
              </a:rPr>
              <a:t>Construída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sobre</a:t>
            </a:r>
            <a:r>
              <a:rPr lang="en-US" sz="1200" dirty="0" smtClean="0">
                <a:solidFill>
                  <a:srgbClr val="3B9BC1"/>
                </a:solidFill>
              </a:rPr>
              <a:t> Android </a:t>
            </a:r>
            <a:r>
              <a:rPr lang="en-US" sz="1200" dirty="0" err="1" smtClean="0">
                <a:solidFill>
                  <a:srgbClr val="3B9BC1"/>
                </a:solidFill>
              </a:rPr>
              <a:t>ou</a:t>
            </a:r>
            <a:r>
              <a:rPr lang="en-US" sz="1200" dirty="0" smtClean="0">
                <a:solidFill>
                  <a:srgbClr val="3B9BC1"/>
                </a:solidFill>
              </a:rPr>
              <a:t> iOS, para </a:t>
            </a:r>
            <a:r>
              <a:rPr lang="en-US" sz="1200" dirty="0" err="1" smtClean="0">
                <a:solidFill>
                  <a:srgbClr val="3B9BC1"/>
                </a:solidFill>
              </a:rPr>
              <a:t>telemóvel</a:t>
            </a:r>
            <a:r>
              <a:rPr lang="en-US" sz="1200" dirty="0">
                <a:solidFill>
                  <a:srgbClr val="3B9BC1"/>
                </a:solidFill>
              </a:rPr>
              <a:t> </a:t>
            </a:r>
            <a:r>
              <a:rPr lang="en-US" sz="1200" dirty="0" smtClean="0">
                <a:solidFill>
                  <a:srgbClr val="3B9BC1"/>
                </a:solidFill>
              </a:rPr>
              <a:t>e/</a:t>
            </a:r>
            <a:r>
              <a:rPr lang="en-US" sz="1200" dirty="0" err="1" smtClean="0">
                <a:solidFill>
                  <a:srgbClr val="3B9BC1"/>
                </a:solidFill>
              </a:rPr>
              <a:t>ou</a:t>
            </a:r>
            <a:r>
              <a:rPr lang="en-US" sz="1200" dirty="0" smtClean="0">
                <a:solidFill>
                  <a:srgbClr val="3B9BC1"/>
                </a:solidFill>
              </a:rPr>
              <a:t> tablet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5677013" y="1514163"/>
            <a:ext cx="27208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1200" dirty="0" smtClean="0">
                <a:solidFill>
                  <a:srgbClr val="3B9BC1"/>
                </a:solidFill>
              </a:rPr>
              <a:t>Uma interface, </a:t>
            </a:r>
            <a:r>
              <a:rPr lang="en-US" sz="1200" dirty="0" err="1" smtClean="0">
                <a:solidFill>
                  <a:srgbClr val="3B9BC1"/>
                </a:solidFill>
              </a:rPr>
              <a:t>chamada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b="1" dirty="0" smtClean="0">
                <a:solidFill>
                  <a:srgbClr val="3B9BC1"/>
                </a:solidFill>
              </a:rPr>
              <a:t>MOBILEAPP </a:t>
            </a:r>
            <a:r>
              <a:rPr lang="en-US" sz="1200" dirty="0" smtClean="0">
                <a:solidFill>
                  <a:srgbClr val="3B9BC1"/>
                </a:solidFill>
              </a:rPr>
              <a:t>e </a:t>
            </a:r>
            <a:r>
              <a:rPr lang="en-US" sz="1200" dirty="0" err="1" smtClean="0">
                <a:solidFill>
                  <a:srgbClr val="3B9BC1"/>
                </a:solidFill>
              </a:rPr>
              <a:t>representa</a:t>
            </a:r>
            <a:r>
              <a:rPr lang="en-US" sz="1200" dirty="0" smtClean="0">
                <a:solidFill>
                  <a:srgbClr val="3B9BC1"/>
                </a:solidFill>
              </a:rPr>
              <a:t> a </a:t>
            </a:r>
            <a:r>
              <a:rPr lang="en-US" sz="1200" dirty="0" err="1" smtClean="0">
                <a:solidFill>
                  <a:srgbClr val="3B9BC1"/>
                </a:solidFill>
              </a:rPr>
              <a:t>gestão</a:t>
            </a:r>
            <a:r>
              <a:rPr lang="en-US" sz="1200" dirty="0" smtClean="0">
                <a:solidFill>
                  <a:srgbClr val="3B9BC1"/>
                </a:solidFill>
              </a:rPr>
              <a:t> do </a:t>
            </a:r>
            <a:r>
              <a:rPr lang="en-US" sz="1200" dirty="0" err="1" smtClean="0">
                <a:solidFill>
                  <a:srgbClr val="3B9BC1"/>
                </a:solidFill>
              </a:rPr>
              <a:t>restaurante</a:t>
            </a:r>
            <a:endParaRPr lang="en-US" sz="1200" dirty="0" smtClean="0">
              <a:solidFill>
                <a:srgbClr val="3B9BC1"/>
              </a:solidFill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Garante</a:t>
            </a:r>
            <a:r>
              <a:rPr lang="en-US" sz="1200" dirty="0" smtClean="0">
                <a:solidFill>
                  <a:srgbClr val="3B9BC1"/>
                </a:solidFill>
              </a:rPr>
              <a:t> que as </a:t>
            </a:r>
            <a:r>
              <a:rPr lang="en-US" sz="1200" dirty="0" err="1" smtClean="0">
                <a:solidFill>
                  <a:srgbClr val="3B9BC1"/>
                </a:solidFill>
              </a:rPr>
              <a:t>encomendas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sejam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concluídas</a:t>
            </a:r>
            <a:endParaRPr lang="en-US" sz="1200" dirty="0" smtClean="0">
              <a:solidFill>
                <a:srgbClr val="3B9BC1"/>
              </a:solidFill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Permite</a:t>
            </a:r>
            <a:r>
              <a:rPr lang="en-US" sz="1200" dirty="0" smtClean="0">
                <a:solidFill>
                  <a:srgbClr val="3B9BC1"/>
                </a:solidFill>
              </a:rPr>
              <a:t> visualizer </a:t>
            </a:r>
            <a:r>
              <a:rPr lang="en-US" sz="1200" dirty="0" err="1" smtClean="0">
                <a:solidFill>
                  <a:srgbClr val="3B9BC1"/>
                </a:solidFill>
              </a:rPr>
              <a:t>registo</a:t>
            </a:r>
            <a:r>
              <a:rPr lang="en-US" sz="1200" dirty="0" smtClean="0">
                <a:solidFill>
                  <a:srgbClr val="3B9BC1"/>
                </a:solidFill>
              </a:rPr>
              <a:t> de </a:t>
            </a:r>
            <a:r>
              <a:rPr lang="en-US" sz="1200" dirty="0" err="1" smtClean="0">
                <a:solidFill>
                  <a:srgbClr val="3B9BC1"/>
                </a:solidFill>
              </a:rPr>
              <a:t>encomendas</a:t>
            </a:r>
            <a:endParaRPr lang="en-US" sz="1200" dirty="0" smtClean="0">
              <a:solidFill>
                <a:srgbClr val="3B9BC1"/>
              </a:solidFill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 err="1" smtClean="0">
                <a:solidFill>
                  <a:srgbClr val="3B9BC1"/>
                </a:solidFill>
              </a:rPr>
              <a:t>Pode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incluir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relatórios</a:t>
            </a:r>
            <a:r>
              <a:rPr lang="en-US" sz="1200" dirty="0" smtClean="0">
                <a:solidFill>
                  <a:srgbClr val="3B9BC1"/>
                </a:solidFill>
              </a:rPr>
              <a:t> (</a:t>
            </a:r>
            <a:r>
              <a:rPr lang="en-US" sz="1200" dirty="0" err="1" smtClean="0">
                <a:solidFill>
                  <a:srgbClr val="3B9BC1"/>
                </a:solidFill>
              </a:rPr>
              <a:t>melhor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cliente</a:t>
            </a:r>
            <a:r>
              <a:rPr lang="en-US" sz="1200" dirty="0" smtClean="0">
                <a:solidFill>
                  <a:srgbClr val="3B9BC1"/>
                </a:solidFill>
              </a:rPr>
              <a:t>, menu </a:t>
            </a:r>
            <a:r>
              <a:rPr lang="en-US" sz="1200" dirty="0" err="1" smtClean="0">
                <a:solidFill>
                  <a:srgbClr val="3B9BC1"/>
                </a:solidFill>
              </a:rPr>
              <a:t>mais</a:t>
            </a:r>
            <a:r>
              <a:rPr lang="en-US" sz="1200" dirty="0" smtClean="0">
                <a:solidFill>
                  <a:srgbClr val="3B9BC1"/>
                </a:solidFill>
              </a:rPr>
              <a:t> </a:t>
            </a:r>
            <a:r>
              <a:rPr lang="en-US" sz="1200" dirty="0" err="1" smtClean="0">
                <a:solidFill>
                  <a:srgbClr val="3B9BC1"/>
                </a:solidFill>
              </a:rPr>
              <a:t>vendido</a:t>
            </a:r>
            <a:r>
              <a:rPr lang="en-US" sz="1200" dirty="0" smtClean="0">
                <a:solidFill>
                  <a:srgbClr val="3B9BC1"/>
                </a:solidFill>
              </a:rPr>
              <a:t>, </a:t>
            </a:r>
            <a:r>
              <a:rPr lang="en-US" sz="1200" dirty="0" err="1" smtClean="0">
                <a:solidFill>
                  <a:srgbClr val="3B9BC1"/>
                </a:solidFill>
              </a:rPr>
              <a:t>etc</a:t>
            </a:r>
            <a:r>
              <a:rPr lang="en-US" sz="1200" dirty="0" smtClean="0">
                <a:solidFill>
                  <a:srgbClr val="3B9BC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069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" grpId="0"/>
      <p:bldP spid="10" grpId="0"/>
      <p:bldP spid="48" grpId="0"/>
      <p:bldP spid="50" grpId="0"/>
      <p:bldP spid="52" grpId="0"/>
      <p:bldP spid="53" grpId="0"/>
      <p:bldP spid="56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3.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smtClean="0"/>
              <a:t>Date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Presentation title</a:t>
            </a:r>
            <a:endParaRPr lang="fr-FR" noProof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noProof="0" smtClean="0"/>
              <a:pPr/>
              <a:t>9</a:t>
            </a:fld>
            <a:endParaRPr lang="fr-FR" noProof="0"/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82880"/>
            <a:r>
              <a:rPr lang="en-US" b="1" dirty="0" err="1" smtClean="0"/>
              <a:t>Arquitetura</a:t>
            </a:r>
            <a:r>
              <a:rPr lang="en-US" b="1" dirty="0" smtClean="0"/>
              <a:t> da </a:t>
            </a:r>
            <a:r>
              <a:rPr lang="en-US" b="1" dirty="0" err="1" smtClean="0"/>
              <a:t>Solução</a:t>
            </a:r>
            <a:endParaRPr lang="en-US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078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3. </a:t>
            </a:r>
            <a:r>
              <a:rPr lang="fr-FR" dirty="0" err="1" smtClean="0"/>
              <a:t>Arquitectura</a:t>
            </a:r>
            <a:r>
              <a:rPr lang="fr-FR" dirty="0" smtClean="0"/>
              <a:t> da </a:t>
            </a:r>
            <a:r>
              <a:rPr lang="fr-FR" dirty="0" err="1" smtClean="0"/>
              <a:t>Solução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2718784"/>
            <a:ext cx="1863820" cy="6460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909449"/>
            <a:ext cx="795804" cy="3979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200" y="3532981"/>
            <a:ext cx="1043608" cy="5812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1600" y="1273554"/>
            <a:ext cx="2160240" cy="1010164"/>
          </a:xfrm>
          <a:prstGeom prst="rect">
            <a:avLst/>
          </a:prstGeom>
          <a:noFill/>
          <a:ln>
            <a:solidFill>
              <a:srgbClr val="3B9B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Rectangle 11"/>
          <p:cNvSpPr/>
          <p:nvPr/>
        </p:nvSpPr>
        <p:spPr>
          <a:xfrm>
            <a:off x="971600" y="1059582"/>
            <a:ext cx="1656184" cy="213972"/>
          </a:xfrm>
          <a:prstGeom prst="rect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3B9BC1"/>
                </a:solidFill>
              </a:rPr>
              <a:t>FRONTEND</a:t>
            </a:r>
            <a:endParaRPr lang="en-US" sz="1400" dirty="0">
              <a:solidFill>
                <a:srgbClr val="3B9BC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28184" y="2208112"/>
            <a:ext cx="2160240" cy="1010164"/>
          </a:xfrm>
          <a:prstGeom prst="rect">
            <a:avLst/>
          </a:prstGeom>
          <a:noFill/>
          <a:ln>
            <a:solidFill>
              <a:srgbClr val="3B9B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Rectangle 24"/>
          <p:cNvSpPr/>
          <p:nvPr/>
        </p:nvSpPr>
        <p:spPr>
          <a:xfrm>
            <a:off x="6228184" y="2006316"/>
            <a:ext cx="1656184" cy="201795"/>
          </a:xfrm>
          <a:prstGeom prst="rect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3B9BC1"/>
                </a:solidFill>
              </a:rPr>
              <a:t>BACKEND</a:t>
            </a:r>
            <a:endParaRPr lang="en-US" sz="1400" dirty="0">
              <a:solidFill>
                <a:srgbClr val="3B9BC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71600" y="3176372"/>
            <a:ext cx="2160240" cy="1010164"/>
          </a:xfrm>
          <a:prstGeom prst="rect">
            <a:avLst/>
          </a:prstGeom>
          <a:noFill/>
          <a:ln>
            <a:solidFill>
              <a:srgbClr val="3B9B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Rectangle 27"/>
          <p:cNvSpPr/>
          <p:nvPr/>
        </p:nvSpPr>
        <p:spPr>
          <a:xfrm>
            <a:off x="971600" y="2962400"/>
            <a:ext cx="1656184" cy="213972"/>
          </a:xfrm>
          <a:prstGeom prst="rect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3B9BC1"/>
                </a:solidFill>
              </a:rPr>
              <a:t>MOBILEAPP</a:t>
            </a:r>
            <a:endParaRPr lang="en-US" sz="1400" dirty="0">
              <a:solidFill>
                <a:srgbClr val="3B9BC1"/>
              </a:solidFill>
            </a:endParaRPr>
          </a:p>
        </p:txBody>
      </p:sp>
      <p:sp>
        <p:nvSpPr>
          <p:cNvPr id="13" name="Flowchart: Magnetic Disk 12"/>
          <p:cNvSpPr/>
          <p:nvPr/>
        </p:nvSpPr>
        <p:spPr>
          <a:xfrm>
            <a:off x="7884368" y="3680856"/>
            <a:ext cx="504056" cy="853777"/>
          </a:xfrm>
          <a:prstGeom prst="flowChartMagneticDisk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3B9BC1"/>
                </a:solidFill>
              </a:rPr>
              <a:t>BD</a:t>
            </a:r>
            <a:endParaRPr lang="en-US" dirty="0">
              <a:solidFill>
                <a:srgbClr val="3B9BC1"/>
              </a:solidFill>
            </a:endParaRPr>
          </a:p>
        </p:txBody>
      </p:sp>
      <p:sp>
        <p:nvSpPr>
          <p:cNvPr id="14" name="Up-Down Arrow 13"/>
          <p:cNvSpPr/>
          <p:nvPr/>
        </p:nvSpPr>
        <p:spPr>
          <a:xfrm>
            <a:off x="8064388" y="3317035"/>
            <a:ext cx="144016" cy="316000"/>
          </a:xfrm>
          <a:prstGeom prst="upDownArrow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Up-Down Arrow 30"/>
          <p:cNvSpPr/>
          <p:nvPr/>
        </p:nvSpPr>
        <p:spPr>
          <a:xfrm rot="16200000">
            <a:off x="4415648" y="1747307"/>
            <a:ext cx="244414" cy="2589027"/>
          </a:xfrm>
          <a:prstGeom prst="upDownArrow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p-Down Arrow 31"/>
          <p:cNvSpPr/>
          <p:nvPr/>
        </p:nvSpPr>
        <p:spPr>
          <a:xfrm rot="16200000">
            <a:off x="4449794" y="958253"/>
            <a:ext cx="244414" cy="2589027"/>
          </a:xfrm>
          <a:prstGeom prst="upDownArrow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15837" y="1910558"/>
            <a:ext cx="1712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Frontend &lt;&gt; Backend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15837" y="2685401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>
                <a:solidFill>
                  <a:srgbClr val="3B9BC1"/>
                </a:solidFill>
              </a:rPr>
              <a:t>MobileApp</a:t>
            </a:r>
            <a:r>
              <a:rPr lang="en-US" sz="1200" dirty="0" smtClean="0">
                <a:solidFill>
                  <a:srgbClr val="3B9BC1"/>
                </a:solidFill>
              </a:rPr>
              <a:t> &lt;&gt; Backend</a:t>
            </a:r>
            <a:endParaRPr lang="en-US" sz="1200" dirty="0">
              <a:solidFill>
                <a:srgbClr val="3B9BC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2" y="1906905"/>
            <a:ext cx="710645" cy="35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3. </a:t>
            </a:r>
            <a:r>
              <a:rPr lang="fr-FR" dirty="0" err="1" smtClean="0"/>
              <a:t>Arquitectura</a:t>
            </a:r>
            <a:r>
              <a:rPr lang="fr-FR" dirty="0" smtClean="0"/>
              <a:t> da </a:t>
            </a:r>
            <a:r>
              <a:rPr lang="fr-FR" dirty="0" err="1" smtClean="0"/>
              <a:t>Solução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2718784"/>
            <a:ext cx="1863820" cy="6460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909449"/>
            <a:ext cx="795804" cy="3979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200" y="3532981"/>
            <a:ext cx="1043608" cy="5812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1600" y="1273554"/>
            <a:ext cx="2160240" cy="1010164"/>
          </a:xfrm>
          <a:prstGeom prst="rect">
            <a:avLst/>
          </a:prstGeom>
          <a:noFill/>
          <a:ln>
            <a:solidFill>
              <a:srgbClr val="3B9B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Rectangle 11"/>
          <p:cNvSpPr/>
          <p:nvPr/>
        </p:nvSpPr>
        <p:spPr>
          <a:xfrm>
            <a:off x="971600" y="1059582"/>
            <a:ext cx="1656184" cy="213972"/>
          </a:xfrm>
          <a:prstGeom prst="rect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3B9BC1"/>
                </a:solidFill>
              </a:rPr>
              <a:t>FRONTEND</a:t>
            </a:r>
            <a:endParaRPr lang="en-US" sz="1400" dirty="0">
              <a:solidFill>
                <a:srgbClr val="3B9BC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28184" y="2208112"/>
            <a:ext cx="2160240" cy="1010164"/>
          </a:xfrm>
          <a:prstGeom prst="rect">
            <a:avLst/>
          </a:prstGeom>
          <a:noFill/>
          <a:ln>
            <a:solidFill>
              <a:srgbClr val="3B9B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Rectangle 24"/>
          <p:cNvSpPr/>
          <p:nvPr/>
        </p:nvSpPr>
        <p:spPr>
          <a:xfrm>
            <a:off x="6228184" y="2006316"/>
            <a:ext cx="1656184" cy="201795"/>
          </a:xfrm>
          <a:prstGeom prst="rect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3B9BC1"/>
                </a:solidFill>
              </a:rPr>
              <a:t>BACKEND</a:t>
            </a:r>
            <a:endParaRPr lang="en-US" sz="1400" dirty="0">
              <a:solidFill>
                <a:srgbClr val="3B9BC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71600" y="3176372"/>
            <a:ext cx="2160240" cy="1010164"/>
          </a:xfrm>
          <a:prstGeom prst="rect">
            <a:avLst/>
          </a:prstGeom>
          <a:noFill/>
          <a:ln>
            <a:solidFill>
              <a:srgbClr val="3B9BC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Rectangle 27"/>
          <p:cNvSpPr/>
          <p:nvPr/>
        </p:nvSpPr>
        <p:spPr>
          <a:xfrm>
            <a:off x="971600" y="2962400"/>
            <a:ext cx="1656184" cy="213972"/>
          </a:xfrm>
          <a:prstGeom prst="rect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3B9BC1"/>
                </a:solidFill>
              </a:rPr>
              <a:t>MOBILEAPP</a:t>
            </a:r>
            <a:endParaRPr lang="en-US" sz="1400" dirty="0">
              <a:solidFill>
                <a:srgbClr val="3B9BC1"/>
              </a:solidFill>
            </a:endParaRPr>
          </a:p>
        </p:txBody>
      </p:sp>
      <p:sp>
        <p:nvSpPr>
          <p:cNvPr id="13" name="Flowchart: Magnetic Disk 12"/>
          <p:cNvSpPr/>
          <p:nvPr/>
        </p:nvSpPr>
        <p:spPr>
          <a:xfrm>
            <a:off x="7884368" y="3680856"/>
            <a:ext cx="504056" cy="853777"/>
          </a:xfrm>
          <a:prstGeom prst="flowChartMagneticDisk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3B9BC1"/>
                </a:solidFill>
              </a:rPr>
              <a:t>BD</a:t>
            </a:r>
            <a:endParaRPr lang="en-US" dirty="0">
              <a:solidFill>
                <a:srgbClr val="3B9BC1"/>
              </a:solidFill>
            </a:endParaRPr>
          </a:p>
        </p:txBody>
      </p:sp>
      <p:sp>
        <p:nvSpPr>
          <p:cNvPr id="14" name="Up-Down Arrow 13"/>
          <p:cNvSpPr/>
          <p:nvPr/>
        </p:nvSpPr>
        <p:spPr>
          <a:xfrm>
            <a:off x="8064388" y="3317035"/>
            <a:ext cx="144016" cy="316000"/>
          </a:xfrm>
          <a:prstGeom prst="upDownArrow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Up-Down Arrow 30"/>
          <p:cNvSpPr/>
          <p:nvPr/>
        </p:nvSpPr>
        <p:spPr>
          <a:xfrm rot="16200000">
            <a:off x="4415648" y="1747307"/>
            <a:ext cx="244414" cy="2589027"/>
          </a:xfrm>
          <a:prstGeom prst="upDownArrow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p-Down Arrow 31"/>
          <p:cNvSpPr/>
          <p:nvPr/>
        </p:nvSpPr>
        <p:spPr>
          <a:xfrm rot="16200000">
            <a:off x="4449794" y="958253"/>
            <a:ext cx="244414" cy="2589027"/>
          </a:xfrm>
          <a:prstGeom prst="upDownArrow">
            <a:avLst/>
          </a:prstGeom>
          <a:noFill/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15837" y="1910558"/>
            <a:ext cx="1712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Frontend &lt;&gt; Backend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15837" y="2685401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>
                <a:solidFill>
                  <a:srgbClr val="3B9BC1"/>
                </a:solidFill>
              </a:rPr>
              <a:t>MobileApp</a:t>
            </a:r>
            <a:r>
              <a:rPr lang="en-US" sz="1200" dirty="0" smtClean="0">
                <a:solidFill>
                  <a:srgbClr val="3B9BC1"/>
                </a:solidFill>
              </a:rPr>
              <a:t> &lt;&gt; Backend</a:t>
            </a:r>
            <a:endParaRPr lang="en-US" sz="1200" dirty="0">
              <a:solidFill>
                <a:srgbClr val="3B9BC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995936" y="4264405"/>
            <a:ext cx="3711082" cy="683609"/>
            <a:chOff x="3995936" y="4264405"/>
            <a:chExt cx="3711082" cy="683609"/>
          </a:xfrm>
        </p:grpSpPr>
        <p:grpSp>
          <p:nvGrpSpPr>
            <p:cNvPr id="22" name="Group 21"/>
            <p:cNvGrpSpPr/>
            <p:nvPr/>
          </p:nvGrpSpPr>
          <p:grpSpPr>
            <a:xfrm>
              <a:off x="3995936" y="4264405"/>
              <a:ext cx="937753" cy="683609"/>
              <a:chOff x="2411760" y="2990114"/>
              <a:chExt cx="1476922" cy="1021796"/>
            </a:xfrm>
          </p:grpSpPr>
          <p:sp>
            <p:nvSpPr>
              <p:cNvPr id="26" name="Isosceles Triangle 25"/>
              <p:cNvSpPr/>
              <p:nvPr/>
            </p:nvSpPr>
            <p:spPr>
              <a:xfrm>
                <a:off x="2411760" y="2990114"/>
                <a:ext cx="1476922" cy="102179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844069" y="3118786"/>
                <a:ext cx="61230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FF00"/>
                    </a:solidFill>
                  </a:rPr>
                  <a:t>!</a:t>
                </a: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4898706" y="4504130"/>
              <a:ext cx="2808312" cy="276999"/>
            </a:xfrm>
            <a:prstGeom prst="rect">
              <a:avLst/>
            </a:prstGeom>
            <a:noFill/>
            <a:ln>
              <a:solidFill>
                <a:srgbClr val="C54E1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 err="1" smtClean="0">
                  <a:solidFill>
                    <a:srgbClr val="BA6138"/>
                  </a:solidFill>
                </a:rPr>
                <a:t>Começar</a:t>
              </a:r>
              <a:r>
                <a:rPr lang="en-US" sz="1200" b="1" dirty="0" smtClean="0">
                  <a:solidFill>
                    <a:srgbClr val="BA6138"/>
                  </a:solidFill>
                </a:rPr>
                <a:t> </a:t>
              </a:r>
              <a:r>
                <a:rPr lang="en-US" sz="1200" b="1" dirty="0" err="1" smtClean="0">
                  <a:solidFill>
                    <a:srgbClr val="BA6138"/>
                  </a:solidFill>
                </a:rPr>
                <a:t>pelo</a:t>
              </a:r>
              <a:r>
                <a:rPr lang="en-US" sz="1200" b="1" dirty="0" smtClean="0">
                  <a:solidFill>
                    <a:srgbClr val="BA6138"/>
                  </a:solidFill>
                </a:rPr>
                <a:t> Backend!!!!</a:t>
              </a:r>
              <a:endParaRPr lang="en-US" sz="1200" b="1" dirty="0">
                <a:solidFill>
                  <a:srgbClr val="BA6138"/>
                </a:solidFill>
              </a:endParaRPr>
            </a:p>
          </p:txBody>
        </p: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2" y="1906905"/>
            <a:ext cx="710645" cy="35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5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smtClean="0"/>
              <a:t>Date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Presentation title</a:t>
            </a:r>
            <a:endParaRPr lang="fr-FR" noProof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noProof="0" smtClean="0"/>
              <a:pPr/>
              <a:t>12</a:t>
            </a:fld>
            <a:endParaRPr lang="fr-FR" noProof="0"/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 smtClean="0"/>
              <a:t>Requisitos</a:t>
            </a:r>
            <a:r>
              <a:rPr lang="en-US" dirty="0" smtClean="0"/>
              <a:t> </a:t>
            </a:r>
            <a:r>
              <a:rPr lang="en-US" dirty="0" err="1" smtClean="0"/>
              <a:t>Funcionais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744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4. </a:t>
            </a:r>
            <a:r>
              <a:rPr lang="en-US" dirty="0" err="1" smtClean="0"/>
              <a:t>Requisitos</a:t>
            </a:r>
            <a:r>
              <a:rPr lang="en-US" dirty="0" smtClean="0"/>
              <a:t> </a:t>
            </a:r>
            <a:r>
              <a:rPr lang="en-US" dirty="0" err="1" smtClean="0"/>
              <a:t>Funcionais</a:t>
            </a:r>
            <a:r>
              <a:rPr lang="en-US" dirty="0"/>
              <a:t/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Race –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223613" y="815846"/>
            <a:ext cx="3522881" cy="216365"/>
          </a:xfrm>
          <a:prstGeom prst="rect">
            <a:avLst/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Obrigatórios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967308" y="1040017"/>
            <a:ext cx="29232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63459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39552" y="189560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9552" y="2774859"/>
            <a:ext cx="7920880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47613" y="3638955"/>
            <a:ext cx="7912819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39552" y="1478715"/>
            <a:ext cx="6336704" cy="0"/>
          </a:xfrm>
          <a:prstGeom prst="line">
            <a:avLst/>
          </a:prstGeom>
          <a:ln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39552" y="4067734"/>
            <a:ext cx="7920880" cy="3269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47613" y="1478715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539552" y="1472177"/>
            <a:ext cx="7920880" cy="12999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574473" y="1199735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Req</a:t>
            </a:r>
            <a:r>
              <a:rPr lang="en-US" sz="1200" b="1" dirty="0" smtClean="0">
                <a:solidFill>
                  <a:srgbClr val="3B9BC1"/>
                </a:solidFill>
              </a:rPr>
              <a:t> ID</a:t>
            </a:r>
            <a:endParaRPr lang="en-US" sz="1200" b="1" dirty="0">
              <a:solidFill>
                <a:srgbClr val="3B9BC1"/>
              </a:solidFill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350630" y="1190570"/>
            <a:ext cx="105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Descrição</a:t>
            </a:r>
            <a:endParaRPr lang="en-US" sz="1200" b="1" dirty="0">
              <a:solidFill>
                <a:srgbClr val="3B9BC1"/>
              </a:solidFill>
            </a:endParaRPr>
          </a:p>
        </p:txBody>
      </p:sp>
      <p:cxnSp>
        <p:nvCxnSpPr>
          <p:cNvPr id="181" name="Straight Connector 180"/>
          <p:cNvCxnSpPr/>
          <p:nvPr/>
        </p:nvCxnSpPr>
        <p:spPr>
          <a:xfrm>
            <a:off x="8460432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60386" y="155639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RF01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647955" y="200843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RF02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1937" y="241581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RF03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633600" y="2859491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RF04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57537" y="3301756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RF05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654840" y="3701922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RF06</a:t>
            </a:r>
            <a:endParaRPr lang="en-US" sz="1200" dirty="0">
              <a:solidFill>
                <a:srgbClr val="3B9BC1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flipV="1">
            <a:off x="546348" y="2325122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32757" y="319416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61427" y="1482898"/>
            <a:ext cx="71990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200" dirty="0">
                <a:solidFill>
                  <a:srgbClr val="3B9BC1"/>
                </a:solidFill>
              </a:rPr>
              <a:t>O sistema deverá permitir a gestão de carros que podem aceder aos restaurantes, de forma a autenticá-los sobre o sistema.</a:t>
            </a:r>
            <a:endParaRPr lang="en-US" sz="1200" dirty="0">
              <a:solidFill>
                <a:srgbClr val="3B9BC1"/>
              </a:solidFill>
            </a:endParaRPr>
          </a:p>
          <a:p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1258934" y="1913533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terá de possuir uma lista de restaurantes, cada um determinado pelas posições GPS, nome do restaurante, morada do restaurante.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1244579" y="2349271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deverá ter uma lista de produtos por restaurante, cada um descrito por um nome do item de menu, um preço e uma imagem descritiva – esta imagem pode ser apenas sugestiva.</a:t>
            </a:r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1244579" y="2787774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terá de permitir criar, atualizar, apagar e ler as ordens criadas aos restaurantes – todos as operações CRUD sobre os as ordens de menus devem ser desenvolvidas.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1244579" y="3225453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deverá construir um histórico de ordens de menu para possibilitar reporting.</a:t>
            </a:r>
            <a:endParaRPr lang="en-US" sz="1200" dirty="0"/>
          </a:p>
        </p:txBody>
      </p:sp>
      <p:sp>
        <p:nvSpPr>
          <p:cNvPr id="72" name="TextBox 71"/>
          <p:cNvSpPr txBox="1"/>
          <p:nvPr/>
        </p:nvSpPr>
        <p:spPr>
          <a:xfrm>
            <a:off x="1229055" y="3639712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A MobileApp e o Frontend devem autenticar-se perante o Backend, ainda que seja um mecanismo básico, com pouca segurança, ou até simulado.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1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4. </a:t>
            </a:r>
            <a:r>
              <a:rPr lang="en-US" dirty="0" err="1" smtClean="0"/>
              <a:t>Requisitos</a:t>
            </a:r>
            <a:r>
              <a:rPr lang="en-US" dirty="0" smtClean="0"/>
              <a:t> </a:t>
            </a:r>
            <a:r>
              <a:rPr lang="en-US" dirty="0" err="1" smtClean="0"/>
              <a:t>Obrigatórios</a:t>
            </a:r>
            <a:r>
              <a:rPr lang="en-US" dirty="0"/>
              <a:t/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Race –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223613" y="815846"/>
            <a:ext cx="3522881" cy="216365"/>
          </a:xfrm>
          <a:prstGeom prst="rect">
            <a:avLst/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Obrigatórios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967308" y="1040017"/>
            <a:ext cx="29232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63459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39552" y="189560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9552" y="2774859"/>
            <a:ext cx="7920880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47613" y="3638955"/>
            <a:ext cx="7912819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39552" y="1478715"/>
            <a:ext cx="6336704" cy="0"/>
          </a:xfrm>
          <a:prstGeom prst="line">
            <a:avLst/>
          </a:prstGeom>
          <a:ln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39552" y="4067734"/>
            <a:ext cx="7920880" cy="3269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47613" y="1478715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539552" y="1472177"/>
            <a:ext cx="7920880" cy="12999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574473" y="1199735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Req</a:t>
            </a:r>
            <a:r>
              <a:rPr lang="en-US" sz="1200" b="1" dirty="0" smtClean="0">
                <a:solidFill>
                  <a:srgbClr val="3B9BC1"/>
                </a:solidFill>
              </a:rPr>
              <a:t> ID</a:t>
            </a:r>
            <a:endParaRPr lang="en-US" sz="1200" b="1" dirty="0">
              <a:solidFill>
                <a:srgbClr val="3B9BC1"/>
              </a:solidFill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350630" y="1190570"/>
            <a:ext cx="105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Descrição</a:t>
            </a:r>
            <a:endParaRPr lang="en-US" sz="1200" b="1" dirty="0">
              <a:solidFill>
                <a:srgbClr val="3B9BC1"/>
              </a:solidFill>
            </a:endParaRPr>
          </a:p>
        </p:txBody>
      </p:sp>
      <p:cxnSp>
        <p:nvCxnSpPr>
          <p:cNvPr id="181" name="Straight Connector 180"/>
          <p:cNvCxnSpPr/>
          <p:nvPr/>
        </p:nvCxnSpPr>
        <p:spPr>
          <a:xfrm>
            <a:off x="8460432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60386" y="155639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RF07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647955" y="200843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RF08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1937" y="241581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RF09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633600" y="2859491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RF10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57537" y="3301756"/>
            <a:ext cx="548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RF11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654840" y="3701922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RF12</a:t>
            </a:r>
            <a:endParaRPr lang="en-US" sz="1200" dirty="0">
              <a:solidFill>
                <a:srgbClr val="3B9BC1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flipV="1">
            <a:off x="546348" y="2325122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32757" y="319416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44579" y="2349271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Frontend deverá permitir a confirmação da compra, antes de finalizar a comunicação com o restaurante.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244579" y="1490817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Frontend deverá poder mostrar a lista de restaurantes, com uma distância em metros e/ou quilómetros.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244579" y="1934390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Frontend deverá permitir a escolha de itens de menu, com quantificadores para cada, à semelhança de um carrinho de compras.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251374" y="2778049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Backend deverá permitir saber o estado da encomenda, o tempo de entrega/cozedura dos itens de menu comprados poderá ser imediato ou com um tempo pré-definido para cada.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241322" y="3195345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As encomendas devem ser unívocas, representadas por um identificar único.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266395" y="3609589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Frontend deverá permitir a escolha de itens de menu, com quantificadores para cada, à semelhança de um carrinho de compras.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8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4. </a:t>
            </a:r>
            <a:r>
              <a:rPr lang="en-US" dirty="0" err="1" smtClean="0"/>
              <a:t>Requisitos</a:t>
            </a:r>
            <a:r>
              <a:rPr lang="en-US" dirty="0" smtClean="0"/>
              <a:t> </a:t>
            </a:r>
            <a:r>
              <a:rPr lang="en-US" dirty="0" err="1" smtClean="0"/>
              <a:t>Obrigatórios</a:t>
            </a:r>
            <a:r>
              <a:rPr lang="en-US" dirty="0"/>
              <a:t/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Race –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223613" y="815846"/>
            <a:ext cx="3522881" cy="216365"/>
          </a:xfrm>
          <a:prstGeom prst="rect">
            <a:avLst/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Obrigatórios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967308" y="1040017"/>
            <a:ext cx="29232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246452" y="1491630"/>
            <a:ext cx="17007" cy="2576104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39552" y="189560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9552" y="2774859"/>
            <a:ext cx="7920880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47613" y="3638955"/>
            <a:ext cx="7912819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39552" y="1478715"/>
            <a:ext cx="6336704" cy="0"/>
          </a:xfrm>
          <a:prstGeom prst="line">
            <a:avLst/>
          </a:prstGeom>
          <a:ln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39552" y="4067734"/>
            <a:ext cx="7920880" cy="3269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47613" y="1478715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539552" y="1472177"/>
            <a:ext cx="7920880" cy="12999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574473" y="1199735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Req</a:t>
            </a:r>
            <a:r>
              <a:rPr lang="en-US" sz="1200" b="1" dirty="0" smtClean="0">
                <a:solidFill>
                  <a:srgbClr val="3B9BC1"/>
                </a:solidFill>
              </a:rPr>
              <a:t> ID</a:t>
            </a:r>
            <a:endParaRPr lang="en-US" sz="1200" b="1" dirty="0">
              <a:solidFill>
                <a:srgbClr val="3B9BC1"/>
              </a:solidFill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350630" y="1190570"/>
            <a:ext cx="105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Descrição</a:t>
            </a:r>
            <a:endParaRPr lang="en-US" sz="1200" b="1" dirty="0">
              <a:solidFill>
                <a:srgbClr val="3B9BC1"/>
              </a:solidFill>
            </a:endParaRPr>
          </a:p>
        </p:txBody>
      </p:sp>
      <p:cxnSp>
        <p:nvCxnSpPr>
          <p:cNvPr id="181" name="Straight Connector 180"/>
          <p:cNvCxnSpPr/>
          <p:nvPr/>
        </p:nvCxnSpPr>
        <p:spPr>
          <a:xfrm>
            <a:off x="8460432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60386" y="155639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RF13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647955" y="200843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RF14</a:t>
            </a:r>
            <a:endParaRPr lang="en-US" sz="1200" dirty="0">
              <a:solidFill>
                <a:srgbClr val="3B9BC1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>
            <a:off x="546348" y="2340280"/>
            <a:ext cx="7929141" cy="11034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32757" y="319416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79512" y="2801555"/>
            <a:ext cx="8784976" cy="150162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244579" y="1490817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A MobileApp deve permitir consultar o detalhe de uma encomenda.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244579" y="1934390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Frontend deverá permitir cancelar uma encomenda</a:t>
            </a:r>
            <a:r>
              <a:rPr lang="pt-BR" sz="1200" dirty="0" smtClean="0">
                <a:solidFill>
                  <a:srgbClr val="3B9BC1"/>
                </a:solidFill>
              </a:rPr>
              <a:t>.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47082" y="2437935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RF15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43706" y="2363887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A MobileApp deve permitir alterar o estado de uma encomenda, pelo restaurante.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0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4. </a:t>
            </a:r>
            <a:r>
              <a:rPr lang="en-US" dirty="0" err="1" smtClean="0"/>
              <a:t>Requisitos</a:t>
            </a:r>
            <a:r>
              <a:rPr lang="en-US" dirty="0" smtClean="0"/>
              <a:t> </a:t>
            </a:r>
            <a:r>
              <a:rPr lang="en-US" dirty="0" err="1" smtClean="0"/>
              <a:t>Funcionais</a:t>
            </a:r>
            <a:r>
              <a:rPr lang="en-US" dirty="0"/>
              <a:t/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Race –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223613" y="815846"/>
            <a:ext cx="3522881" cy="216365"/>
          </a:xfrm>
          <a:prstGeom prst="rect">
            <a:avLst/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Opcionais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967308" y="1040017"/>
            <a:ext cx="29232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63459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39552" y="189560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9552" y="2774859"/>
            <a:ext cx="7920880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47613" y="3638955"/>
            <a:ext cx="7912819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39552" y="1478715"/>
            <a:ext cx="6336704" cy="0"/>
          </a:xfrm>
          <a:prstGeom prst="line">
            <a:avLst/>
          </a:prstGeom>
          <a:ln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39552" y="4067734"/>
            <a:ext cx="7920880" cy="3269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47613" y="1478715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539552" y="1472177"/>
            <a:ext cx="7920880" cy="12999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574473" y="1199735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Req</a:t>
            </a:r>
            <a:r>
              <a:rPr lang="en-US" sz="1200" b="1" dirty="0" smtClean="0">
                <a:solidFill>
                  <a:srgbClr val="3B9BC1"/>
                </a:solidFill>
              </a:rPr>
              <a:t> ID</a:t>
            </a:r>
            <a:endParaRPr lang="en-US" sz="1200" b="1" dirty="0">
              <a:solidFill>
                <a:srgbClr val="3B9BC1"/>
              </a:solidFill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350630" y="1190570"/>
            <a:ext cx="105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Descrição</a:t>
            </a:r>
            <a:endParaRPr lang="en-US" sz="1200" b="1" dirty="0">
              <a:solidFill>
                <a:srgbClr val="3B9BC1"/>
              </a:solidFill>
            </a:endParaRPr>
          </a:p>
        </p:txBody>
      </p:sp>
      <p:cxnSp>
        <p:nvCxnSpPr>
          <p:cNvPr id="181" name="Straight Connector 180"/>
          <p:cNvCxnSpPr/>
          <p:nvPr/>
        </p:nvCxnSpPr>
        <p:spPr>
          <a:xfrm>
            <a:off x="8460432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60386" y="155639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RF16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647955" y="200843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RF17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1937" y="241581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RF18</a:t>
            </a:r>
            <a:endParaRPr lang="en-US" sz="1200" dirty="0">
              <a:solidFill>
                <a:srgbClr val="3B9BC1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flipV="1">
            <a:off x="546348" y="2325122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32757" y="319416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61427" y="1482898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pode permitir o uso de pontos por cliente.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1258934" y="1913533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poderá ser alvo de reporting (pedido mais efectuado, pontos por cliente, restaurante mais lucrativo, etc).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1244579" y="2349271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As interfaces de utilizador devem ser elegantes e responsivas.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179513" y="2808333"/>
            <a:ext cx="8784976" cy="156361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6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Requisitos</a:t>
            </a:r>
            <a:r>
              <a:rPr lang="en-US" dirty="0" smtClean="0"/>
              <a:t> </a:t>
            </a:r>
            <a:r>
              <a:rPr lang="en-US" dirty="0" err="1" smtClean="0"/>
              <a:t>Técnicos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Race –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223613" y="815846"/>
            <a:ext cx="3522881" cy="216365"/>
          </a:xfrm>
          <a:prstGeom prst="rect">
            <a:avLst/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Opcionais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967308" y="1040017"/>
            <a:ext cx="29232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263459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39552" y="189560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539552" y="2774859"/>
            <a:ext cx="7920880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47613" y="3638955"/>
            <a:ext cx="7912819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39552" y="1478715"/>
            <a:ext cx="6336704" cy="0"/>
          </a:xfrm>
          <a:prstGeom prst="line">
            <a:avLst/>
          </a:prstGeom>
          <a:ln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539552" y="4067734"/>
            <a:ext cx="7920880" cy="3269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47613" y="1478715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539552" y="1472177"/>
            <a:ext cx="7920880" cy="12999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74473" y="1199735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Req</a:t>
            </a:r>
            <a:r>
              <a:rPr lang="en-US" sz="1200" b="1" dirty="0" smtClean="0">
                <a:solidFill>
                  <a:srgbClr val="3B9BC1"/>
                </a:solidFill>
              </a:rPr>
              <a:t> ID</a:t>
            </a:r>
            <a:endParaRPr lang="en-US" sz="1200" b="1" dirty="0">
              <a:solidFill>
                <a:srgbClr val="3B9BC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350630" y="1190570"/>
            <a:ext cx="105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Descrição</a:t>
            </a:r>
            <a:endParaRPr lang="en-US" sz="1200" b="1" dirty="0">
              <a:solidFill>
                <a:srgbClr val="3B9BC1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>
            <a:off x="8460432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60386" y="1556390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RT01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47955" y="2008438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RT02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41937" y="2415818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RT03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33600" y="2859491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RT04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57537" y="3301756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RT05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54840" y="3701922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RT06</a:t>
            </a:r>
            <a:endParaRPr lang="en-US" sz="1200" dirty="0">
              <a:solidFill>
                <a:srgbClr val="3B9BC1"/>
              </a:solidFill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 flipV="1">
            <a:off x="546348" y="2325122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32757" y="319416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244579" y="2349271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uso de padrões de desenho deve ser privilegiado, em vez de código esparguete.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1244579" y="1490817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A comunicação do sistema deve usar serviços REST, transportando JSON.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1247133" y="1912928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Backend deverá seguir o padrão MVC.</a:t>
            </a:r>
          </a:p>
          <a:p>
            <a:pPr algn="just"/>
            <a:r>
              <a:rPr lang="pt-BR" sz="1200" dirty="0">
                <a:solidFill>
                  <a:srgbClr val="3B9BC1"/>
                </a:solidFill>
              </a:rPr>
              <a:t>O Frontend e a MobileApp deverão ser modulares.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51374" y="2778049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código de todos os sistemas deve estar testado automaticamente.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1241322" y="3195345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código do sistema deverá seguir as melhores práticas de desenvolvimento (code quality and analysis).</a:t>
            </a:r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1266395" y="3609589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deve estar documentado, também com comentários ao código.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7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5. </a:t>
            </a:r>
            <a:r>
              <a:rPr lang="en-US" dirty="0" err="1" smtClean="0"/>
              <a:t>Requisitos</a:t>
            </a:r>
            <a:r>
              <a:rPr lang="en-US" dirty="0" smtClean="0"/>
              <a:t> </a:t>
            </a:r>
            <a:r>
              <a:rPr lang="en-US" dirty="0" err="1" smtClean="0"/>
              <a:t>Técnicos</a:t>
            </a:r>
            <a:r>
              <a:rPr lang="en-US" dirty="0"/>
              <a:t/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Race –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223613" y="815846"/>
            <a:ext cx="3522881" cy="216365"/>
          </a:xfrm>
          <a:prstGeom prst="rect">
            <a:avLst/>
          </a:prstGeom>
          <a:solidFill>
            <a:srgbClr val="3B9BC1"/>
          </a:solidFill>
          <a:ln>
            <a:solidFill>
              <a:srgbClr val="3B9B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Opcionais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967308" y="1040017"/>
            <a:ext cx="29232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63459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39552" y="189560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9552" y="2774859"/>
            <a:ext cx="7920880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47613" y="3638955"/>
            <a:ext cx="7912819" cy="0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39552" y="1478715"/>
            <a:ext cx="6336704" cy="0"/>
          </a:xfrm>
          <a:prstGeom prst="line">
            <a:avLst/>
          </a:prstGeom>
          <a:ln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39552" y="4067734"/>
            <a:ext cx="7920880" cy="3269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47613" y="1478715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539552" y="1472177"/>
            <a:ext cx="7920880" cy="12999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574473" y="1199735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Req</a:t>
            </a:r>
            <a:r>
              <a:rPr lang="en-US" sz="1200" b="1" dirty="0" smtClean="0">
                <a:solidFill>
                  <a:srgbClr val="3B9BC1"/>
                </a:solidFill>
              </a:rPr>
              <a:t> ID</a:t>
            </a:r>
            <a:endParaRPr lang="en-US" sz="1200" b="1" dirty="0">
              <a:solidFill>
                <a:srgbClr val="3B9BC1"/>
              </a:solidFill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350630" y="1190570"/>
            <a:ext cx="105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rgbClr val="3B9BC1"/>
                </a:solidFill>
              </a:rPr>
              <a:t>Descrição</a:t>
            </a:r>
            <a:endParaRPr lang="en-US" sz="1200" b="1" dirty="0">
              <a:solidFill>
                <a:srgbClr val="3B9BC1"/>
              </a:solidFill>
            </a:endParaRPr>
          </a:p>
        </p:txBody>
      </p:sp>
      <p:cxnSp>
        <p:nvCxnSpPr>
          <p:cNvPr id="181" name="Straight Connector 180"/>
          <p:cNvCxnSpPr/>
          <p:nvPr/>
        </p:nvCxnSpPr>
        <p:spPr>
          <a:xfrm>
            <a:off x="8460432" y="1491630"/>
            <a:ext cx="0" cy="2592288"/>
          </a:xfrm>
          <a:prstGeom prst="line">
            <a:avLst/>
          </a:prstGeom>
          <a:ln w="2857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60386" y="1556390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RT07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647955" y="2008438"/>
            <a:ext cx="557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RT08</a:t>
            </a:r>
            <a:endParaRPr lang="en-US" sz="1200" dirty="0">
              <a:solidFill>
                <a:srgbClr val="3B9BC1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1937" y="241581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3B9BC1"/>
                </a:solidFill>
              </a:rPr>
              <a:t>RF18</a:t>
            </a:r>
            <a:endParaRPr lang="en-US" sz="1200" dirty="0">
              <a:solidFill>
                <a:srgbClr val="3B9BC1"/>
              </a:solidFill>
            </a:endParaRPr>
          </a:p>
        </p:txBody>
      </p:sp>
      <p:cxnSp>
        <p:nvCxnSpPr>
          <p:cNvPr id="65" name="Straight Connector 64"/>
          <p:cNvCxnSpPr/>
          <p:nvPr/>
        </p:nvCxnSpPr>
        <p:spPr>
          <a:xfrm flipV="1">
            <a:off x="546348" y="2325122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32757" y="3194165"/>
            <a:ext cx="7920880" cy="15158"/>
          </a:xfrm>
          <a:prstGeom prst="line">
            <a:avLst/>
          </a:prstGeom>
          <a:ln w="22225">
            <a:solidFill>
              <a:srgbClr val="1BA5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61427" y="1482898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deve possuir código com soluções elegantes, IDENTADAS e seguindo as naming conventions.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1258934" y="1913533"/>
            <a:ext cx="719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O sistema deve ter persistência baseado num Sistema de Gestão de Base de Dados, onde devem ser armazenados todos os dados e operações.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1244579" y="2349271"/>
            <a:ext cx="7199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3B9BC1"/>
                </a:solidFill>
              </a:rPr>
              <a:t>As interfaces de utilizador devem ser elegantes e responsivas.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179513" y="2364581"/>
            <a:ext cx="8784976" cy="20073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5.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smtClean="0"/>
              <a:t>Date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Presentation title</a:t>
            </a:r>
            <a:endParaRPr lang="fr-FR" noProof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noProof="0" smtClean="0"/>
              <a:pPr/>
              <a:t>19</a:t>
            </a:fld>
            <a:endParaRPr lang="fr-FR" noProof="0"/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82880"/>
            <a:r>
              <a:rPr lang="en-US" dirty="0"/>
              <a:t>Checkpoints, </a:t>
            </a:r>
            <a:r>
              <a:rPr lang="en-US" dirty="0" err="1"/>
              <a:t>Mentores</a:t>
            </a:r>
            <a:r>
              <a:rPr lang="en-US" dirty="0"/>
              <a:t> e </a:t>
            </a:r>
            <a:r>
              <a:rPr lang="en-US" dirty="0" err="1"/>
              <a:t>Entregáveis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643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5. </a:t>
            </a:r>
            <a:r>
              <a:rPr lang="fr-FR" dirty="0" err="1" smtClean="0"/>
              <a:t>Mentores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10" name="TextBox 9"/>
          <p:cNvSpPr txBox="1"/>
          <p:nvPr/>
        </p:nvSpPr>
        <p:spPr>
          <a:xfrm>
            <a:off x="251520" y="1131590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3B9BC1"/>
                </a:solidFill>
              </a:rPr>
              <a:t>Backend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8100" y="1486466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02709" y="1136242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3B9BC1"/>
                </a:solidFill>
              </a:rPr>
              <a:t>Frontend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119289" y="1491118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88324" y="1131590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MobileApp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5904904" y="1486466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770046"/>
              </p:ext>
            </p:extLst>
          </p:nvPr>
        </p:nvGraphicFramePr>
        <p:xfrm>
          <a:off x="268101" y="1677514"/>
          <a:ext cx="2532830" cy="243840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2532830">
                  <a:extLst>
                    <a:ext uri="{9D8B030D-6E8A-4147-A177-3AD203B41FA5}">
                      <a16:colId xmlns:a16="http://schemas.microsoft.com/office/drawing/2014/main" val="369633217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Ivson Santos</a:t>
                      </a: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4371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Ruben </a:t>
                      </a:r>
                      <a:r>
                        <a:rPr lang="en-US" sz="1400" b="1" dirty="0" err="1" smtClean="0">
                          <a:solidFill>
                            <a:schemeClr val="bg1"/>
                          </a:solidFill>
                        </a:rPr>
                        <a:t>Lins</a:t>
                      </a:r>
                      <a:endParaRPr lang="en-US" sz="14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06485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Pedro </a:t>
                      </a:r>
                      <a:r>
                        <a:rPr lang="en-US" sz="1400" b="1" dirty="0" err="1" smtClean="0">
                          <a:solidFill>
                            <a:schemeClr val="bg1"/>
                          </a:solidFill>
                        </a:rPr>
                        <a:t>Bonifácio</a:t>
                      </a:r>
                      <a:endParaRPr lang="en-US" sz="14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411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Vítor Borrego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6542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João Mendes</a:t>
                      </a:r>
                      <a:endParaRPr lang="en-US" sz="1400" b="1" kern="1200" dirty="0" smtClean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89945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</a:t>
                      </a:r>
                      <a:r>
                        <a:rPr lang="pt-PT" sz="1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Faita</a:t>
                      </a:r>
                      <a:endParaRPr lang="en-US" sz="1400" b="1" kern="1200" dirty="0" smtClean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4025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Jaime Santos</a:t>
                      </a:r>
                      <a:endParaRPr lang="en-US" sz="1400" b="1" kern="1200" dirty="0" smtClean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52803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David Morgado</a:t>
                      </a:r>
                      <a:endParaRPr lang="en-US" sz="1400" b="1" kern="1200" dirty="0" smtClean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862197"/>
                  </a:ext>
                </a:extLst>
              </a:tr>
            </a:tbl>
          </a:graphicData>
        </a:graphic>
      </p:graphicFrame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727569"/>
              </p:ext>
            </p:extLst>
          </p:nvPr>
        </p:nvGraphicFramePr>
        <p:xfrm>
          <a:off x="3119289" y="1677514"/>
          <a:ext cx="2532831" cy="91440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2532831">
                  <a:extLst>
                    <a:ext uri="{9D8B030D-6E8A-4147-A177-3AD203B41FA5}">
                      <a16:colId xmlns:a16="http://schemas.microsoft.com/office/drawing/2014/main" val="369633217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Rodrigo </a:t>
                      </a:r>
                      <a:r>
                        <a:rPr lang="pt-PT" sz="1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Fiori</a:t>
                      </a:r>
                      <a:endParaRPr lang="en-US" sz="11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4371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</a:t>
                      </a:r>
                      <a:r>
                        <a:rPr lang="pt-PT" sz="1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Morales</a:t>
                      </a:r>
                      <a:endParaRPr lang="en-US" sz="11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06485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Douglas Lira</a:t>
                      </a:r>
                      <a:endParaRPr lang="en-US" sz="1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4116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322730"/>
              </p:ext>
            </p:extLst>
          </p:nvPr>
        </p:nvGraphicFramePr>
        <p:xfrm>
          <a:off x="5904904" y="1677514"/>
          <a:ext cx="2532831" cy="121158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2532831">
                  <a:extLst>
                    <a:ext uri="{9D8B030D-6E8A-4147-A177-3AD203B41FA5}">
                      <a16:colId xmlns:a16="http://schemas.microsoft.com/office/drawing/2014/main" val="369633217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Tarek</a:t>
                      </a: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Jradi</a:t>
                      </a: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(iOS)</a:t>
                      </a:r>
                      <a:endParaRPr lang="en-US" sz="1400" b="1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4371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Hugo Ricardo Martins (</a:t>
                      </a:r>
                      <a:r>
                        <a:rPr lang="pt-PT" sz="14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And</a:t>
                      </a:r>
                      <a:r>
                        <a:rPr lang="pt-PT" sz="14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06485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Ricardo Dias (iOS)</a:t>
                      </a:r>
                      <a:endParaRPr lang="en-US" sz="1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411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Fábio Pinheiro (</a:t>
                      </a:r>
                      <a:r>
                        <a:rPr lang="pt-PT" sz="1400" b="1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pt-PT" sz="14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/iOS)</a:t>
                      </a:r>
                      <a:endParaRPr lang="en-US" sz="1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B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260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51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5. Checkpoints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10" name="TextBox 9"/>
          <p:cNvSpPr txBox="1"/>
          <p:nvPr/>
        </p:nvSpPr>
        <p:spPr>
          <a:xfrm>
            <a:off x="2566194" y="699542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Sexta</a:t>
            </a:r>
            <a:r>
              <a:rPr lang="en-US" sz="1600" b="1" dirty="0" smtClean="0">
                <a:solidFill>
                  <a:srgbClr val="3B9BC1"/>
                </a:solidFill>
              </a:rPr>
              <a:t> Feira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582774" y="1054418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66194" y="1059582"/>
            <a:ext cx="4653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3B9BC1"/>
                </a:solidFill>
              </a:rPr>
              <a:t>19h30 </a:t>
            </a:r>
            <a:r>
              <a:rPr lang="en-US" b="1" dirty="0" err="1" smtClean="0">
                <a:solidFill>
                  <a:srgbClr val="3B9BC1"/>
                </a:solidFill>
              </a:rPr>
              <a:t>Esclarecimentos</a:t>
            </a:r>
            <a:r>
              <a:rPr lang="en-US" b="1" dirty="0" smtClean="0">
                <a:solidFill>
                  <a:srgbClr val="3B9BC1"/>
                </a:solidFill>
              </a:rPr>
              <a:t> com </a:t>
            </a:r>
            <a:r>
              <a:rPr lang="en-US" b="1" dirty="0" err="1" smtClean="0">
                <a:solidFill>
                  <a:srgbClr val="3B9BC1"/>
                </a:solidFill>
              </a:rPr>
              <a:t>Mentores</a:t>
            </a:r>
            <a:endParaRPr lang="en-US" b="1" dirty="0">
              <a:solidFill>
                <a:srgbClr val="3B9BC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82774" y="1347614"/>
            <a:ext cx="429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3B9BC1"/>
                </a:solidFill>
              </a:rPr>
              <a:t>23h-00h Checkpoint com </a:t>
            </a:r>
            <a:r>
              <a:rPr lang="en-US" b="1" dirty="0" err="1" smtClean="0">
                <a:solidFill>
                  <a:srgbClr val="3B9BC1"/>
                </a:solidFill>
              </a:rPr>
              <a:t>Mentores</a:t>
            </a:r>
            <a:endParaRPr lang="en-US" b="1" dirty="0">
              <a:solidFill>
                <a:srgbClr val="3B9BC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66194" y="1828652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rgbClr val="3B9BC1"/>
                </a:solidFill>
              </a:rPr>
              <a:t>Sábado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2582774" y="2183528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66194" y="2188692"/>
            <a:ext cx="428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3B9BC1"/>
                </a:solidFill>
              </a:rPr>
              <a:t>11h-12h </a:t>
            </a:r>
            <a:r>
              <a:rPr lang="en-US" b="1" dirty="0">
                <a:solidFill>
                  <a:srgbClr val="3B9BC1"/>
                </a:solidFill>
              </a:rPr>
              <a:t>Checkpoint com </a:t>
            </a:r>
            <a:r>
              <a:rPr lang="en-US" b="1" dirty="0" err="1">
                <a:solidFill>
                  <a:srgbClr val="3B9BC1"/>
                </a:solidFill>
              </a:rPr>
              <a:t>Mentores</a:t>
            </a:r>
            <a:endParaRPr lang="en-US" b="1" dirty="0">
              <a:solidFill>
                <a:srgbClr val="3B9BC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80473" y="2467047"/>
            <a:ext cx="429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3B9BC1"/>
                </a:solidFill>
              </a:rPr>
              <a:t>17h-18h Checkpoint com </a:t>
            </a:r>
            <a:r>
              <a:rPr lang="en-US" b="1" dirty="0" err="1" smtClean="0">
                <a:solidFill>
                  <a:srgbClr val="3B9BC1"/>
                </a:solidFill>
              </a:rPr>
              <a:t>Mentores</a:t>
            </a:r>
            <a:endParaRPr lang="en-US" b="1" dirty="0">
              <a:solidFill>
                <a:srgbClr val="3B9BC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80473" y="2745402"/>
            <a:ext cx="429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3B9BC1"/>
                </a:solidFill>
              </a:rPr>
              <a:t>23h-00h Checkpoint com </a:t>
            </a:r>
            <a:r>
              <a:rPr lang="en-US" b="1" dirty="0" err="1" smtClean="0">
                <a:solidFill>
                  <a:srgbClr val="3B9BC1"/>
                </a:solidFill>
              </a:rPr>
              <a:t>Mentores</a:t>
            </a:r>
            <a:endParaRPr lang="en-US" b="1" dirty="0">
              <a:solidFill>
                <a:srgbClr val="3B9BC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80473" y="3210530"/>
            <a:ext cx="1757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3B9BC1"/>
                </a:solidFill>
              </a:rPr>
              <a:t>Domingo</a:t>
            </a:r>
            <a:endParaRPr lang="en-US" b="1" dirty="0">
              <a:solidFill>
                <a:srgbClr val="3B9BC1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597053" y="3565406"/>
            <a:ext cx="2532831" cy="0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80473" y="3570570"/>
            <a:ext cx="487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3B9BC1"/>
                </a:solidFill>
              </a:rPr>
              <a:t>08h-09h </a:t>
            </a:r>
            <a:r>
              <a:rPr lang="en-US" b="1" dirty="0" err="1" smtClean="0">
                <a:solidFill>
                  <a:srgbClr val="3B9BC1"/>
                </a:solidFill>
              </a:rPr>
              <a:t>Esclarecimentos</a:t>
            </a:r>
            <a:r>
              <a:rPr lang="en-US" b="1" dirty="0" smtClean="0">
                <a:solidFill>
                  <a:srgbClr val="3B9BC1"/>
                </a:solidFill>
              </a:rPr>
              <a:t> com </a:t>
            </a:r>
            <a:r>
              <a:rPr lang="en-US" b="1" dirty="0" err="1" smtClean="0">
                <a:solidFill>
                  <a:srgbClr val="3B9BC1"/>
                </a:solidFill>
              </a:rPr>
              <a:t>Mentores</a:t>
            </a:r>
            <a:endParaRPr lang="en-US" b="1" dirty="0">
              <a:solidFill>
                <a:srgbClr val="3B9BC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63" y="4104685"/>
            <a:ext cx="462156" cy="4621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1064" y="4161152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7FD0FF"/>
                </a:solidFill>
              </a:rPr>
              <a:t>Haverá</a:t>
            </a:r>
            <a:r>
              <a:rPr lang="en-US" b="1" dirty="0" smtClean="0">
                <a:solidFill>
                  <a:srgbClr val="7FD0FF"/>
                </a:solidFill>
              </a:rPr>
              <a:t> um WhatsApp para </a:t>
            </a:r>
            <a:r>
              <a:rPr lang="en-US" b="1" dirty="0" err="1" smtClean="0">
                <a:solidFill>
                  <a:srgbClr val="7FD0FF"/>
                </a:solidFill>
              </a:rPr>
              <a:t>esclarecimentos</a:t>
            </a:r>
            <a:endParaRPr lang="en-US" b="1" dirty="0">
              <a:solidFill>
                <a:srgbClr val="7FD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59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5. </a:t>
            </a:r>
            <a:r>
              <a:rPr lang="fr-FR" dirty="0" err="1" smtClean="0"/>
              <a:t>Entregáveis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Code Race – O </a:t>
            </a:r>
            <a:r>
              <a:rPr lang="fr-FR" dirty="0" err="1" smtClean="0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22</a:t>
            </a:fld>
            <a:endParaRPr lang="fr-FR" dirty="0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6588224" y="1547577"/>
            <a:ext cx="515423" cy="432048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5932" y="1365617"/>
            <a:ext cx="616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As </a:t>
            </a:r>
            <a:r>
              <a:rPr lang="en-US" b="1" dirty="0" err="1" smtClean="0">
                <a:solidFill>
                  <a:srgbClr val="FFC000"/>
                </a:solidFill>
              </a:rPr>
              <a:t>equipas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apresentarão</a:t>
            </a:r>
            <a:r>
              <a:rPr lang="en-US" b="1" dirty="0" smtClean="0">
                <a:solidFill>
                  <a:srgbClr val="FFC000"/>
                </a:solidFill>
              </a:rPr>
              <a:t> o </a:t>
            </a:r>
            <a:r>
              <a:rPr lang="en-US" b="1" dirty="0" err="1" smtClean="0">
                <a:solidFill>
                  <a:srgbClr val="FFC000"/>
                </a:solidFill>
              </a:rPr>
              <a:t>resultado</a:t>
            </a:r>
            <a:r>
              <a:rPr lang="en-US" b="1" dirty="0" smtClean="0">
                <a:solidFill>
                  <a:srgbClr val="FFC000"/>
                </a:solidFill>
              </a:rPr>
              <a:t> no final do Code Race!!</a:t>
            </a:r>
            <a:endParaRPr lang="en-US" b="1" dirty="0">
              <a:solidFill>
                <a:srgbClr val="FFC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6660232" y="1628801"/>
            <a:ext cx="515423" cy="432048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6588224" y="2504613"/>
            <a:ext cx="515423" cy="432048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7609" y="2287523"/>
            <a:ext cx="6222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C000"/>
                </a:solidFill>
              </a:rPr>
              <a:t>Os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projetos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serão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recolhidos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por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passagem</a:t>
            </a:r>
            <a:r>
              <a:rPr lang="en-US" b="1" dirty="0" smtClean="0">
                <a:solidFill>
                  <a:srgbClr val="FFC000"/>
                </a:solidFill>
              </a:rPr>
              <a:t> de </a:t>
            </a:r>
            <a:r>
              <a:rPr lang="en-US" b="1" dirty="0" err="1" smtClean="0">
                <a:solidFill>
                  <a:srgbClr val="FFC000"/>
                </a:solidFill>
              </a:rPr>
              <a:t>código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fonte</a:t>
            </a:r>
            <a:r>
              <a:rPr lang="en-US" b="1" dirty="0" smtClean="0">
                <a:solidFill>
                  <a:srgbClr val="FFC000"/>
                </a:solidFill>
              </a:rPr>
              <a:t> para </a:t>
            </a:r>
            <a:r>
              <a:rPr lang="en-US" b="1" dirty="0" err="1" smtClean="0">
                <a:solidFill>
                  <a:srgbClr val="FFC000"/>
                </a:solidFill>
              </a:rPr>
              <a:t>uma</a:t>
            </a:r>
            <a:r>
              <a:rPr lang="en-US" b="1" dirty="0" smtClean="0">
                <a:solidFill>
                  <a:srgbClr val="FFC000"/>
                </a:solidFill>
              </a:rPr>
              <a:t> PEN!!</a:t>
            </a:r>
            <a:endParaRPr lang="en-US" b="1" dirty="0">
              <a:solidFill>
                <a:srgbClr val="FFC000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6660232" y="2585837"/>
            <a:ext cx="515423" cy="432048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6574158" y="1803970"/>
            <a:ext cx="14066" cy="165727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6574158" y="2768127"/>
            <a:ext cx="14066" cy="165727"/>
          </a:xfrm>
          <a:prstGeom prst="line">
            <a:avLst/>
          </a:prstGeom>
          <a:ln w="19050">
            <a:solidFill>
              <a:srgbClr val="3B9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4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6.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smtClean="0"/>
              <a:t>Date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Presentation title</a:t>
            </a:r>
            <a:endParaRPr lang="fr-FR" noProof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noProof="0" smtClean="0"/>
              <a:pPr/>
              <a:t>23</a:t>
            </a:fld>
            <a:endParaRPr lang="fr-FR" noProof="0"/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 smtClean="0"/>
              <a:t>Fatores</a:t>
            </a:r>
            <a:r>
              <a:rPr lang="fr-FR" dirty="0" smtClean="0"/>
              <a:t> de </a:t>
            </a:r>
            <a:r>
              <a:rPr lang="fr-FR" dirty="0" err="1" smtClean="0"/>
              <a:t>Avaliação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497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6. </a:t>
            </a:r>
            <a:r>
              <a:rPr lang="fr-FR" dirty="0" err="1" smtClean="0"/>
              <a:t>Fatores</a:t>
            </a:r>
            <a:r>
              <a:rPr lang="fr-FR" dirty="0" smtClean="0"/>
              <a:t> de </a:t>
            </a:r>
            <a:r>
              <a:rPr lang="fr-FR" dirty="0" err="1" smtClean="0"/>
              <a:t>Avaliação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3570265" y="4937155"/>
            <a:ext cx="333282" cy="305506"/>
          </a:xfrm>
        </p:spPr>
        <p:txBody>
          <a:bodyPr/>
          <a:lstStyle/>
          <a:p>
            <a:r>
              <a:rPr lang="fr-FR" smtClean="0"/>
              <a:t>Date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Code Race – O </a:t>
            </a:r>
            <a:r>
              <a:rPr lang="fr-FR" dirty="0" err="1"/>
              <a:t>Desafio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3569757" y="4676494"/>
            <a:ext cx="401358" cy="226441"/>
          </a:xfrm>
        </p:spPr>
        <p:txBody>
          <a:bodyPr/>
          <a:lstStyle/>
          <a:p>
            <a:fld id="{10C140CD-8AED-46FF-A9A2-77308F3F39AE}" type="slidenum">
              <a:rPr lang="fr-FR" sz="600" smtClean="0"/>
              <a:pPr/>
              <a:t>24</a:t>
            </a:fld>
            <a:endParaRPr lang="fr-FR" sz="600" dirty="0"/>
          </a:p>
        </p:txBody>
      </p:sp>
      <p:sp>
        <p:nvSpPr>
          <p:cNvPr id="37" name="Espace réservé du numéro de diapositive 4"/>
          <p:cNvSpPr txBox="1">
            <a:spLocks/>
          </p:cNvSpPr>
          <p:nvPr/>
        </p:nvSpPr>
        <p:spPr bwMode="gray">
          <a:xfrm>
            <a:off x="-508" y="4551970"/>
            <a:ext cx="432060" cy="2518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C140CD-8AED-46FF-A9A2-77308F3F39AE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9" name="TextBox 8"/>
          <p:cNvSpPr txBox="1"/>
          <p:nvPr/>
        </p:nvSpPr>
        <p:spPr>
          <a:xfrm>
            <a:off x="5075773" y="3789504"/>
            <a:ext cx="37063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rgbClr val="3B9BC1"/>
                </a:solidFill>
              </a:rPr>
              <a:t>BOA SORTE!</a:t>
            </a:r>
            <a:endParaRPr lang="en-US" sz="4400" b="1" dirty="0">
              <a:solidFill>
                <a:srgbClr val="3B9BC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38434" y="1275606"/>
            <a:ext cx="3829510" cy="3259254"/>
          </a:xfrm>
          <a:prstGeom prst="ellipse">
            <a:avLst/>
          </a:prstGeom>
          <a:solidFill>
            <a:srgbClr val="1BA5DC"/>
          </a:solidFill>
          <a:ln>
            <a:solidFill>
              <a:srgbClr val="1BA5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658856" y="1913282"/>
            <a:ext cx="171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Obrigatórios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316004" y="2318691"/>
            <a:ext cx="88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15" name="Pie 14"/>
          <p:cNvSpPr/>
          <p:nvPr/>
        </p:nvSpPr>
        <p:spPr>
          <a:xfrm>
            <a:off x="244363" y="1330362"/>
            <a:ext cx="3835961" cy="3265118"/>
          </a:xfrm>
          <a:prstGeom prst="pie">
            <a:avLst>
              <a:gd name="adj1" fmla="val 0"/>
              <a:gd name="adj2" fmla="val 10790445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gular Pentagon 16"/>
          <p:cNvSpPr/>
          <p:nvPr/>
        </p:nvSpPr>
        <p:spPr>
          <a:xfrm>
            <a:off x="1335241" y="2058593"/>
            <a:ext cx="1802450" cy="1616991"/>
          </a:xfrm>
          <a:prstGeom prst="pentag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98114" y="3367340"/>
            <a:ext cx="171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Técnicos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316004" y="3155436"/>
            <a:ext cx="88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8205" y="2718457"/>
            <a:ext cx="165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/>
              <a:t>Opcionais</a:t>
            </a:r>
            <a:endParaRPr lang="en-US" sz="1600" b="1" dirty="0"/>
          </a:p>
          <a:p>
            <a:pPr algn="ctr"/>
            <a:endParaRPr lang="en-US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2257084" y="3161694"/>
            <a:ext cx="88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357542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smtClean="0"/>
              <a:t>Date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Presentation title</a:t>
            </a:r>
            <a:endParaRPr lang="fr-FR" noProof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noProof="0" smtClean="0"/>
              <a:pPr/>
              <a:t>25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119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ltran">
  <a:themeElements>
    <a:clrScheme name="Altran bureautique">
      <a:dk1>
        <a:sysClr val="windowText" lastClr="000000"/>
      </a:dk1>
      <a:lt1>
        <a:srgbClr val="FFFFFF"/>
      </a:lt1>
      <a:dk2>
        <a:srgbClr val="007EAF"/>
      </a:dk2>
      <a:lt2>
        <a:srgbClr val="5F509B"/>
      </a:lt2>
      <a:accent1>
        <a:srgbClr val="EB5F1E"/>
      </a:accent1>
      <a:accent2>
        <a:srgbClr val="FAEB46"/>
      </a:accent2>
      <a:accent3>
        <a:srgbClr val="E12364"/>
      </a:accent3>
      <a:accent4>
        <a:srgbClr val="464B69"/>
      </a:accent4>
      <a:accent5>
        <a:srgbClr val="00B4B9"/>
      </a:accent5>
      <a:accent6>
        <a:srgbClr val="5FC3EB"/>
      </a:accent6>
      <a:hlink>
        <a:srgbClr val="007EAF"/>
      </a:hlink>
      <a:folHlink>
        <a:srgbClr val="007EA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19E1A6EA81A4789CC2A27D54FE063" ma:contentTypeVersion="2" ma:contentTypeDescription="Create a new document." ma:contentTypeScope="" ma:versionID="6e5cb36ff88c0f99687fc20d43474a8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d665e38e66d01d06a7f476fcfe73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F64EBE-3065-4A3D-B86E-F21B0406FD66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BEF1E5-09DF-46B0-9968-4DC0508567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4695D99-3EAE-4F55-A2B4-F38051B8FE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Altran_PPT_16-9_v2</Template>
  <TotalTime>25122</TotalTime>
  <Words>1241</Words>
  <Application>Microsoft Office PowerPoint</Application>
  <PresentationFormat>On-screen Show (16:9)</PresentationFormat>
  <Paragraphs>292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Calibri</vt:lpstr>
      <vt:lpstr>Wingdings</vt:lpstr>
      <vt:lpstr>Altran</vt:lpstr>
      <vt:lpstr>PowerPoint Presentation</vt:lpstr>
      <vt:lpstr>Agenda</vt:lpstr>
      <vt:lpstr>1.</vt:lpstr>
      <vt:lpstr>1. Contexto</vt:lpstr>
      <vt:lpstr>2.</vt:lpstr>
      <vt:lpstr>2. O Desafio</vt:lpstr>
      <vt:lpstr>2. O Desafio</vt:lpstr>
      <vt:lpstr>2. O Desafio</vt:lpstr>
      <vt:lpstr>3.</vt:lpstr>
      <vt:lpstr>3. Arquitectura da Solução</vt:lpstr>
      <vt:lpstr>3. Arquitectura da Solução</vt:lpstr>
      <vt:lpstr>4.</vt:lpstr>
      <vt:lpstr>4. Requisitos Funcionais </vt:lpstr>
      <vt:lpstr>4. Requisitos Obrigatórios </vt:lpstr>
      <vt:lpstr>4. Requisitos Obrigatórios </vt:lpstr>
      <vt:lpstr>4. Requisitos Funcionais </vt:lpstr>
      <vt:lpstr>5. Requisitos Técnicos</vt:lpstr>
      <vt:lpstr>5. Requisitos Técnicos </vt:lpstr>
      <vt:lpstr>5.</vt:lpstr>
      <vt:lpstr>5. Mentores</vt:lpstr>
      <vt:lpstr>5. Checkpoints</vt:lpstr>
      <vt:lpstr>5. Entregáveis</vt:lpstr>
      <vt:lpstr>6.</vt:lpstr>
      <vt:lpstr>6. Fatores de Avaliação</vt:lpstr>
      <vt:lpstr>PowerPoint Presentation</vt:lpstr>
    </vt:vector>
  </TitlesOfParts>
  <Manager>Altran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Altran</dc:subject>
  <dc:creator>Costa Ana Marisa</dc:creator>
  <cp:lastModifiedBy>BONIFACIO COSTA Pedro Proenca</cp:lastModifiedBy>
  <cp:revision>609</cp:revision>
  <dcterms:created xsi:type="dcterms:W3CDTF">2017-10-19T09:43:25Z</dcterms:created>
  <dcterms:modified xsi:type="dcterms:W3CDTF">2019-12-06T17:01:46Z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0x0101001F419E1A6EA81A4789CC2A27D54FE063</vt:lpwstr>
  </property>
</Properties>
</file>